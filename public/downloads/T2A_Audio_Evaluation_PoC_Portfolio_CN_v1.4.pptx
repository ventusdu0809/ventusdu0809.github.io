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4105a30d82f42d8" Type="http://schemas.openxmlformats.org/package/2006/relationships/metadata/core-properties" Target="docProps/core.xml"/><Relationship Id="R3e6c5fd378e246b5" Type="http://schemas.openxmlformats.org/officeDocument/2006/relationships/extended-properties" Target="docProps/app.xml"/><Relationship Id="R77aff53ad6ed4cdd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9be52811c949f3"/>
  </p:sldMasterIdLst>
  <p:notesMasterIdLst>
    <p:notesMasterId xmlns:r="http://schemas.openxmlformats.org/officeDocument/2006/relationships" r:id="Rc59d3d14cfa34fba"/>
  </p:notesMasterIdLst>
  <p:sldIdLst>
    <p:sldId xmlns:r="http://schemas.openxmlformats.org/officeDocument/2006/relationships" id="256" r:id="Rdba1de2eeca94687"/>
    <p:sldId xmlns:r="http://schemas.openxmlformats.org/officeDocument/2006/relationships" id="257" r:id="Re7ac199067b947fb"/>
    <p:sldId xmlns:r="http://schemas.openxmlformats.org/officeDocument/2006/relationships" id="258" r:id="R10d78d6f218248fc"/>
    <p:sldId xmlns:r="http://schemas.openxmlformats.org/officeDocument/2006/relationships" id="259" r:id="Raaa0fa1736954150"/>
    <p:sldId xmlns:r="http://schemas.openxmlformats.org/officeDocument/2006/relationships" id="260" r:id="R9e996b574a09494e"/>
    <p:sldId xmlns:r="http://schemas.openxmlformats.org/officeDocument/2006/relationships" id="261" r:id="R8eb3d59353ac4ff0"/>
    <p:sldId xmlns:r="http://schemas.openxmlformats.org/officeDocument/2006/relationships" id="262" r:id="R87541facfbef48b5"/>
    <p:sldId xmlns:r="http://schemas.openxmlformats.org/officeDocument/2006/relationships" id="263" r:id="R4bb0943a75474a42"/>
    <p:sldId xmlns:r="http://schemas.openxmlformats.org/officeDocument/2006/relationships" id="264" r:id="R6d87b77c626d40a0"/>
    <p:sldId xmlns:r="http://schemas.openxmlformats.org/officeDocument/2006/relationships" id="265" r:id="R4cfccdda8cb04755"/>
    <p:sldId xmlns:r="http://schemas.openxmlformats.org/officeDocument/2006/relationships" id="266" r:id="R9468eaeb00c8449a"/>
    <p:sldId xmlns:r="http://schemas.openxmlformats.org/officeDocument/2006/relationships" id="267" r:id="Ra45b09d3712e4130"/>
    <p:sldId xmlns:r="http://schemas.openxmlformats.org/officeDocument/2006/relationships" id="268" r:id="R26e2695c7f9a46be"/>
    <p:sldId xmlns:r="http://schemas.openxmlformats.org/officeDocument/2006/relationships" id="269" r:id="Recdfb376f4a34e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10d78d6f218248fc" Type="http://schemas.openxmlformats.org/officeDocument/2006/relationships/slide" Target="slides/slide3.xml"/><Relationship Id="R229be52811c949f3" Type="http://schemas.openxmlformats.org/officeDocument/2006/relationships/slideMaster" Target="slideMasters/slideMaster1.xml"/><Relationship Id="R26e2695c7f9a46be" Type="http://schemas.openxmlformats.org/officeDocument/2006/relationships/slide" Target="slides/slide13.xml"/><Relationship Id="R4bb0943a75474a42" Type="http://schemas.openxmlformats.org/officeDocument/2006/relationships/slide" Target="slides/slide8.xml"/><Relationship Id="R4cfccdda8cb04755" Type="http://schemas.openxmlformats.org/officeDocument/2006/relationships/slide" Target="slides/slide10.xml"/><Relationship Id="R66b3b6327777406f" Type="http://schemas.openxmlformats.org/officeDocument/2006/relationships/presProps" Target="presProps.xml"/><Relationship Id="R6d87b77c626d40a0" Type="http://schemas.openxmlformats.org/officeDocument/2006/relationships/slide" Target="slides/slide9.xml"/><Relationship Id="R87541facfbef48b5" Type="http://schemas.openxmlformats.org/officeDocument/2006/relationships/slide" Target="slides/slide7.xml"/><Relationship Id="R8eb3d59353ac4ff0" Type="http://schemas.openxmlformats.org/officeDocument/2006/relationships/slide" Target="slides/slide6.xml"/><Relationship Id="R9468eaeb00c8449a" Type="http://schemas.openxmlformats.org/officeDocument/2006/relationships/slide" Target="slides/slide11.xml"/><Relationship Id="R9e996b574a09494e" Type="http://schemas.openxmlformats.org/officeDocument/2006/relationships/slide" Target="slides/slide5.xml"/><Relationship Id="Ra45b09d3712e4130" Type="http://schemas.openxmlformats.org/officeDocument/2006/relationships/slide" Target="slides/slide12.xml"/><Relationship Id="Raaa0fa1736954150" Type="http://schemas.openxmlformats.org/officeDocument/2006/relationships/slide" Target="slides/slide4.xml"/><Relationship Id="Rc59d3d14cfa34fba" Type="http://schemas.openxmlformats.org/officeDocument/2006/relationships/notesMaster" Target="notesMasters/notesMaster1.xml"/><Relationship Id="Rc9661f4a9b78400a" Type="http://schemas.openxmlformats.org/officeDocument/2006/relationships/viewProps" Target="viewProps.xml"/><Relationship Id="Rcd893d98f5814f8b" Type="http://schemas.openxmlformats.org/officeDocument/2006/relationships/tableStyles" Target="tableStyles.xml"/><Relationship Id="Rdba1de2eeca94687" Type="http://schemas.openxmlformats.org/officeDocument/2006/relationships/slide" Target="slides/slide1.xml"/><Relationship Id="Re4d305ec76f34929" Type="http://schemas.openxmlformats.org/officeDocument/2006/relationships/theme" Target="theme/theme1.xml"/><Relationship Id="Re7ac199067b947fb" Type="http://schemas.openxmlformats.org/officeDocument/2006/relationships/slide" Target="slides/slide2.xml"/><Relationship Id="Recdfb376f4a34ef2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f8ddae779826420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e5db3287b2d0484f" Type="http://schemas.openxmlformats.org/officeDocument/2006/relationships/notesMaster" Target="../notesMasters/notesMaster1.xml"/><Relationship Id="Rec53d53c4b624815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69736080c2f645a1" Type="http://schemas.openxmlformats.org/officeDocument/2006/relationships/slide" Target="../slides/slide2.xml"/><Relationship Id="R6ec8184db660422e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d007ca6b8f14098" Type="http://schemas.openxmlformats.org/officeDocument/2006/relationships/notesMaster" Target="../notesMasters/notesMaster1.xml"/><Relationship Id="Rf86d9fa3fb70491f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4b53b8d33b0455e" Type="http://schemas.openxmlformats.org/officeDocument/2006/relationships/slide" Target="../slides/slide4.xml"/><Relationship Id="Rd91217c3bffa422d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53fd3633413c4d71" Type="http://schemas.openxmlformats.org/officeDocument/2006/relationships/notesMaster" Target="../notesMasters/notesMaster1.xml"/><Relationship Id="Rdaec878ee07348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a94af5746854a5c" Type="http://schemas.openxmlformats.org/officeDocument/2006/relationships/notesMaster" Target="../notesMasters/notesMaster1.xml"/><Relationship Id="R5c7ea6d1e6864cd7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2a58911a1c6e46cf" Type="http://schemas.openxmlformats.org/officeDocument/2006/relationships/slide" Target="../slides/slide7.xml"/><Relationship Id="R73b9df40e28f4528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6346ff0c90be4883" Type="http://schemas.openxmlformats.org/officeDocument/2006/relationships/notesMaster" Target="../notesMasters/notesMaster1.xml"/><Relationship Id="Rdf8cf50564ac423b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4b688d314f3e41eb" Type="http://schemas.openxmlformats.org/officeDocument/2006/relationships/slide" Target="../slides/slide9.xml"/><Relationship Id="Rcf38812a0a1e4ecf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4e145a3eb064584" Type="http://schemas.openxmlformats.org/officeDocument/2006/relationships/notesMaster" Target="../notesMasters/notesMaster1.xml"/><Relationship Id="R287ed506ae7047d7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0191fa774a2045dd" Type="http://schemas.openxmlformats.org/officeDocument/2006/relationships/notesMaster" Target="../notesMasters/notesMaster1.xml"/><Relationship Id="R3c1a54d170764cf4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1c9ca88ac26a49a1" Type="http://schemas.openxmlformats.org/officeDocument/2006/relationships/slide" Target="../slides/slide12.xml"/><Relationship Id="R90ac0047c1714995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13742f4c435448e3" Type="http://schemas.openxmlformats.org/officeDocument/2006/relationships/slide" Target="../slides/slide13.xml"/><Relationship Id="Ra169aabc5b424e0d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c320383d1443492e" Type="http://schemas.openxmlformats.org/officeDocument/2006/relationships/slide" Target="../slides/slide14.xml"/><Relationship Id="Re7b7359c82114ef0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f2c8681c3ab4bf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5868825f44f4ba0" Type="http://schemas.openxmlformats.org/officeDocument/2006/relationships/slideLayout" Target="../slideLayouts/slideLayout1.xml"/><Relationship Id="R96e7d1a0b35d4fd8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868825f44f4b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abf79956cc004fa2" Type="http://schemas.openxmlformats.org/officeDocument/2006/relationships/slideLayout" Target="../slideLayouts/slideLayout1.xml"/><Relationship Id="Rc11b262542da409b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683604a88e01481e" Type="http://schemas.openxmlformats.org/officeDocument/2006/relationships/notesSlide" Target="../notesSlides/notesSlide2.xml"/><Relationship Id="R9c36b9a44521469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72b4a9f620e4f5f" Type="http://schemas.openxmlformats.org/officeDocument/2006/relationships/slideLayout" Target="../slideLayouts/slideLayout1.xml"/><Relationship Id="R68204bb260754b0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59162786f5904872" Type="http://schemas.openxmlformats.org/officeDocument/2006/relationships/slideLayout" Target="../slideLayouts/slideLayout1.xml"/><Relationship Id="Rc6d27ca0c66943bd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81005490b6804fc2" Type="http://schemas.openxmlformats.org/officeDocument/2006/relationships/notesSlide" Target="../notesSlides/notesSlide5.xml"/><Relationship Id="Rd748044d38b049c9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0a92a688f29b44ae" Type="http://schemas.openxmlformats.org/officeDocument/2006/relationships/slideLayout" Target="../slideLayouts/slideLayout1.xml"/><Relationship Id="Ree08648bc08141f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b71e60895414275" Type="http://schemas.openxmlformats.org/officeDocument/2006/relationships/slideLayout" Target="../slideLayouts/slideLayout1.xml"/><Relationship Id="Rcd2fd518d5a249cc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102f45f793654ebb" Type="http://schemas.openxmlformats.org/officeDocument/2006/relationships/image" Target="../media/image.png"/><Relationship Id="R99282880e0a740ba" Type="http://schemas.openxmlformats.org/officeDocument/2006/relationships/slideLayout" Target="../slideLayouts/slideLayout1.xml"/><Relationship Id="Rcc03c05a47e442ec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1784b3349d6144c0" Type="http://schemas.openxmlformats.org/officeDocument/2006/relationships/slideLayout" Target="../slideLayouts/slideLayout1.xml"/><Relationship Id="R7cb6271087a6430b" Type="http://schemas.openxmlformats.org/officeDocument/2006/relationships/image" Target="../media/image2.png"/><Relationship Id="R8b2d79d3641849ef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34ce5ebb3d441b4" Type="http://schemas.openxmlformats.org/officeDocument/2006/relationships/notesSlide" Target="../notesSlides/notesSlide10.xml"/><Relationship Id="R4ba803c95c93467f" Type="http://schemas.openxmlformats.org/officeDocument/2006/relationships/image" Target="../media/image3.png"/><Relationship Id="R861b754220fc4a9a" Type="http://schemas.openxmlformats.org/officeDocument/2006/relationships/image" Target="../media/image4.png"/><Relationship Id="Rfc218b53deb54477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3c1ad59f16f34938" Type="http://schemas.openxmlformats.org/officeDocument/2006/relationships/image" Target="../media/image5.png"/><Relationship Id="R5991e051bfd34361" Type="http://schemas.openxmlformats.org/officeDocument/2006/relationships/notesSlide" Target="../notesSlides/notesSlide11.xml"/><Relationship Id="R9e488594e8874689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0073523adb245c7" Type="http://schemas.openxmlformats.org/officeDocument/2006/relationships/hyperlink" Target="../../audio/derived/blind/B0008.wav" TargetMode="External"/><Relationship Id="R05f7ff3c84774ebc" Type="http://schemas.openxmlformats.org/officeDocument/2006/relationships/slideLayout" Target="../slideLayouts/slideLayout1.xml"/><Relationship Id="R0aaf0c303b644127" Type="http://schemas.openxmlformats.org/officeDocument/2006/relationships/hyperlink" Target="../../audio/derived/blind/B0152.wav" TargetMode="External"/><Relationship Id="R1037fdcdb20447ae" Type="http://schemas.openxmlformats.org/officeDocument/2006/relationships/hyperlink" Target="../../audio/derived/blind/B0092.wav" TargetMode="External"/><Relationship Id="R591c6a3133ff44a0" Type="http://schemas.openxmlformats.org/officeDocument/2006/relationships/notesSlide" Target="../notesSlides/notesSlide12.xml"/><Relationship Id="Rb925f02f822d4341" Type="http://schemas.openxmlformats.org/officeDocument/2006/relationships/hyperlink" Target="../../audio/derived/blind/B0099.wav" TargetMode="External"/></Relationships>
</file>

<file path=ppt/slides/_rels/slide13.xml.rels><?xml version='1.0' encoding='UTF-8' standalone='yes'?>
<Relationships xmlns="http://schemas.openxmlformats.org/package/2006/relationships"><Relationship Id="R58b5c80b5a664c95" Type="http://schemas.openxmlformats.org/officeDocument/2006/relationships/image" Target="../media/image6.png"/><Relationship Id="Ra36b9af4738c4ea7" Type="http://schemas.openxmlformats.org/officeDocument/2006/relationships/slideLayout" Target="../slideLayouts/slideLayout1.xml"/><Relationship Id="Rc43404b1fb28451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acf354ee33bb424b" Type="http://schemas.openxmlformats.org/officeDocument/2006/relationships/slideLayout" Target="../slideLayouts/slideLayout1.xml"/><Relationship Id="Re6a27bfc90614e60" Type="http://schemas.openxmlformats.org/officeDocument/2006/relationships/notesSlide" Target="../notesSlides/notesSlide14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AA41FAD-3EA5-4DF3-B471-56659E3D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PORTFOLIO CASE STUDY · 2026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CC65533-4EB4-43D4-9DF9-41CBA411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E438DA0-5E16-4B51-BDDE-25B2C9AB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8048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T2A 音效生成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评测 PoC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BA5EA0E-3B86-4430-A5F2-BB847A8C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从声音感知判断出发，建立可追溯的生成音效评测流程</a:t>
            </a:r>
          </a:p>
        </p:txBody>
      </p:sp>
      <p:sp>
        <p:nvSpPr>
          <p:cNvPr id="5" name="rule-1">
            <a:extLst xmlns:a="http://schemas.openxmlformats.org/drawingml/2006/main">
              <a:ext uri="{FF2B5EF4-FFF2-40B4-BE49-F238E27FC236}">
                <a16:creationId xmlns:a16="http://schemas.microsoft.com/office/drawing/2014/main" id="{439C3F2B-8F34-4F83-8640-7064C76B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149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B1639B16-4F29-4EC4-BC85-F352F674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Stable Audio Open 1.0  ·  40 Prompt × 5 seed  ·  200 条正式 10 秒样本</a:t>
            </a:r>
          </a:p>
        </p:txBody>
      </p:sp>
      <p:sp>
        <p:nvSpPr>
          <p:cNvPr id="7" name="cover-role">
            <a:extLst xmlns:a="http://schemas.openxmlformats.org/drawingml/2006/main">
              <a:ext uri="{FF2B5EF4-FFF2-40B4-BE49-F238E27FC236}">
                <a16:creationId xmlns:a16="http://schemas.microsoft.com/office/drawing/2014/main" id="{020114AE-FE64-4B53-8EFD-CB4C69E4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340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杜明｜声音设计与 AI 音频评测</a:t>
            </a:r>
          </a:p>
        </p:txBody>
      </p:sp>
    </p:spTree>
    <p:extLst>
      <p:ext uri="{BB962C8B-B14F-4D97-AF65-F5344CB8AC3E}">
        <p14:creationId xmlns:p14="http://schemas.microsoft.com/office/powerpoint/2010/main" val="1646747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2">
            <a:extLst xmlns:a="http://schemas.openxmlformats.org/drawingml/2006/main">
              <a:ext uri="{FF2B5EF4-FFF2-40B4-BE49-F238E27FC236}">
                <a16:creationId xmlns:a16="http://schemas.microsoft.com/office/drawing/2014/main" id="{13C0DE9C-8B9D-491B-BCB0-B465B905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T2A 音效生成评测 PoC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6FA2E1E-F1D0-4DBB-8B48-AF9CAF5C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整体质量与文本—音频相关性需要分别评估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048B27A3-58E6-4A1C-85EB-62411DF9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ource-2">
            <a:extLst xmlns:a="http://schemas.openxmlformats.org/drawingml/2006/main">
              <a:ext uri="{FF2B5EF4-FFF2-40B4-BE49-F238E27FC236}">
                <a16:creationId xmlns:a16="http://schemas.microsoft.com/office/drawing/2014/main" id="{A1AB2FEC-631D-4BBD-A637-AB553228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正式统计版本 · n=200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8790C06E-E8BE-4C93-96CC-D2341A98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02 / 14</a:t>
            </a:r>
          </a:p>
        </p:txBody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2B0FA7C9-8070-465E-825D-95E542F2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本项目不用于发布模型排名，而是验证一套从受控测试集、人工听评到事件级 Badcase 复核的评测流程。</a:t>
            </a:r>
          </a:p>
        </p:txBody>
      </p:sp>
      <p:sp>
        <p:nvSpPr>
          <p:cNvPr id="7" name="shape-4">
            <a:extLst xmlns:a="http://schemas.openxmlformats.org/drawingml/2006/main">
              <a:ext uri="{FF2B5EF4-FFF2-40B4-BE49-F238E27FC236}">
                <a16:creationId xmlns:a16="http://schemas.microsoft.com/office/drawing/2014/main" id="{4E6DA9D0-2864-4DE9-8C45-D5D6D86D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5623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59A5B645-1C92-4448-B411-0108E657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3028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2702BC2C-5895-4D7F-AEDD-7B3EA47B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正式样本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DB5FF286-B58B-48D0-A8D9-86F855D5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40 个原创 Prompt × 每条 5 个固定 seed</a:t>
            </a:r>
          </a:p>
        </p:txBody>
      </p:sp>
      <p:sp>
        <p:nvSpPr>
          <p:cNvPr id="11" name="shape-8">
            <a:extLst xmlns:a="http://schemas.openxmlformats.org/drawingml/2006/main">
              <a:ext uri="{FF2B5EF4-FFF2-40B4-BE49-F238E27FC236}">
                <a16:creationId xmlns:a16="http://schemas.microsoft.com/office/drawing/2014/main" id="{8DA0068B-1EF5-49DA-94FF-302DBCB7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81300"/>
            <a:ext cx="35623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A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309137EE-08C9-4B9C-B076-CEA3BCD2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05150"/>
            <a:ext cx="3028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4.25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E40C0F04-1310-4754-8DB1-0A6E8011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OVL 均值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5749C7FA-7539-48B8-BA6C-61A24D53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59105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整体质量与试听可用性</a:t>
            </a:r>
          </a:p>
        </p:txBody>
      </p:sp>
      <p:sp>
        <p:nvSpPr>
          <p:cNvPr id="15" name="shape-12">
            <a:extLst xmlns:a="http://schemas.openxmlformats.org/drawingml/2006/main">
              <a:ext uri="{FF2B5EF4-FFF2-40B4-BE49-F238E27FC236}">
                <a16:creationId xmlns:a16="http://schemas.microsoft.com/office/drawing/2014/main" id="{7A26FE93-BD98-4D40-8E38-9BEDF1A7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5623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-13">
            <a:extLst xmlns:a="http://schemas.openxmlformats.org/drawingml/2006/main">
              <a:ext uri="{FF2B5EF4-FFF2-40B4-BE49-F238E27FC236}">
                <a16:creationId xmlns:a16="http://schemas.microsoft.com/office/drawing/2014/main" id="{A16BCF4C-23F3-471F-B94A-8CA4E2DF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05150"/>
            <a:ext cx="3028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3.46</a:t>
            </a:r>
          </a:p>
        </p:txBody>
      </p:sp>
      <p:sp>
        <p:nvSpPr>
          <p:cNvPr id="17" name="text-14">
            <a:extLst xmlns:a="http://schemas.openxmlformats.org/drawingml/2006/main">
              <a:ext uri="{FF2B5EF4-FFF2-40B4-BE49-F238E27FC236}">
                <a16:creationId xmlns:a16="http://schemas.microsoft.com/office/drawing/2014/main" id="{DB2496F5-2010-4F3E-9893-1CBB83C3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REL 均值</a:t>
            </a:r>
          </a:p>
        </p:txBody>
      </p:sp>
      <p:sp>
        <p:nvSpPr>
          <p:cNvPr id="18" name="text-15">
            <a:extLst xmlns:a="http://schemas.openxmlformats.org/drawingml/2006/main">
              <a:ext uri="{FF2B5EF4-FFF2-40B4-BE49-F238E27FC236}">
                <a16:creationId xmlns:a16="http://schemas.microsoft.com/office/drawing/2014/main" id="{AAECF625-2159-4617-8630-36E9A1FE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9105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文本要求与生成内容的匹配程度</a:t>
            </a:r>
          </a:p>
        </p:txBody>
      </p:sp>
      <p:sp>
        <p:nvSpPr>
          <p:cNvPr id="19" name="text-16">
            <a:extLst xmlns:a="http://schemas.openxmlformats.org/drawingml/2006/main">
              <a:ext uri="{FF2B5EF4-FFF2-40B4-BE49-F238E27FC236}">
                <a16:creationId xmlns:a16="http://schemas.microsoft.com/office/drawing/2014/main" id="{FDAB8C9D-72B5-4CDF-A0A0-5A36AB4F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正式结果显示，整体音频质量较高，但文本—音频相关性相对较弱；两项指标不能合并为单一总分。</a:t>
            </a:r>
          </a:p>
        </p:txBody>
      </p:sp>
    </p:spTree>
    <p:extLst>
      <p:ext uri="{BB962C8B-B14F-4D97-AF65-F5344CB8AC3E}">
        <p14:creationId xmlns:p14="http://schemas.microsoft.com/office/powerpoint/2010/main" val="1138914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5EB446C4-0804-43DB-B946-6D95D237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T2A 音效生成评测 PoC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F8075DE-C85A-4BD7-B585-D75AC250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评测设计由测试集、人工听评、客观诊断与复核组成</a:t>
            </a:r>
          </a:p>
        </p:txBody>
      </p:sp>
      <p:sp>
        <p:nvSpPr>
          <p:cNvPr id="3" name="rule-17">
            <a:extLst xmlns:a="http://schemas.openxmlformats.org/drawingml/2006/main">
              <a:ext uri="{FF2B5EF4-FFF2-40B4-BE49-F238E27FC236}">
                <a16:creationId xmlns:a16="http://schemas.microsoft.com/office/drawing/2014/main" id="{8EE3C7BE-34D3-4B98-BAD4-83556316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ource-3">
            <a:extLst xmlns:a="http://schemas.openxmlformats.org/drawingml/2006/main">
              <a:ext uri="{FF2B5EF4-FFF2-40B4-BE49-F238E27FC236}">
                <a16:creationId xmlns:a16="http://schemas.microsoft.com/office/drawing/2014/main" id="{5F5C64B9-B8F0-4EB7-B1CE-79E6F40B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正式统计版本 · n=200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6F3E1A7F-6B8B-4E11-A95F-AB3B4287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03 / 14</a:t>
            </a:r>
          </a:p>
        </p:txBody>
      </p:sp>
      <p:sp>
        <p:nvSpPr>
          <p:cNvPr id="6" name="shape-18">
            <a:extLst xmlns:a="http://schemas.openxmlformats.org/drawingml/2006/main">
              <a:ext uri="{FF2B5EF4-FFF2-40B4-BE49-F238E27FC236}">
                <a16:creationId xmlns:a16="http://schemas.microsoft.com/office/drawing/2014/main" id="{C94A5F52-E533-4455-A538-CB176C38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-19">
            <a:extLst xmlns:a="http://schemas.openxmlformats.org/drawingml/2006/main">
              <a:ext uri="{FF2B5EF4-FFF2-40B4-BE49-F238E27FC236}">
                <a16:creationId xmlns:a16="http://schemas.microsoft.com/office/drawing/2014/main" id="{C4AD1A49-6416-4C04-A401-7B36AE50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受控测试集</a:t>
            </a:r>
          </a:p>
        </p:txBody>
      </p:sp>
      <p:sp>
        <p:nvSpPr>
          <p:cNvPr id="8" name="text-20">
            <a:extLst xmlns:a="http://schemas.openxmlformats.org/drawingml/2006/main">
              <a:ext uri="{FF2B5EF4-FFF2-40B4-BE49-F238E27FC236}">
                <a16:creationId xmlns:a16="http://schemas.microsoft.com/office/drawing/2014/main" id="{1B2EFF14-21A6-4366-9D1E-C73B7617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990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40 条原创英文 Prompt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覆盖自然、机械、武器、动作、动物、日常与魔法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每条固定 5 个 seed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正式样本均为 10 秒 WAV</a:t>
            </a:r>
          </a:p>
        </p:txBody>
      </p:sp>
      <p:sp>
        <p:nvSpPr>
          <p:cNvPr id="9" name="text-21">
            <a:extLst xmlns:a="http://schemas.openxmlformats.org/drawingml/2006/main">
              <a:ext uri="{FF2B5EF4-FFF2-40B4-BE49-F238E27FC236}">
                <a16:creationId xmlns:a16="http://schemas.microsoft.com/office/drawing/2014/main" id="{A691EE64-14F4-4856-9D2A-092DCF1E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 测试集</a:t>
            </a:r>
          </a:p>
        </p:txBody>
      </p:sp>
      <p:sp>
        <p:nvSpPr>
          <p:cNvPr id="10" name="shape-22">
            <a:extLst xmlns:a="http://schemas.openxmlformats.org/drawingml/2006/main">
              <a:ext uri="{FF2B5EF4-FFF2-40B4-BE49-F238E27FC236}">
                <a16:creationId xmlns:a16="http://schemas.microsoft.com/office/drawing/2014/main" id="{7531141E-EA49-4B35-A4BB-C428F781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2880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-23">
            <a:extLst xmlns:a="http://schemas.openxmlformats.org/drawingml/2006/main">
              <a:ext uri="{FF2B5EF4-FFF2-40B4-BE49-F238E27FC236}">
                <a16:creationId xmlns:a16="http://schemas.microsoft.com/office/drawing/2014/main" id="{A5A7484A-1268-4F1E-BD9F-73018DB5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717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五层评测框架</a:t>
            </a:r>
          </a:p>
        </p:txBody>
      </p:sp>
      <p:sp>
        <p:nvSpPr>
          <p:cNvPr id="12" name="text-24">
            <a:extLst xmlns:a="http://schemas.openxmlformats.org/drawingml/2006/main">
              <a:ext uri="{FF2B5EF4-FFF2-40B4-BE49-F238E27FC236}">
                <a16:creationId xmlns:a16="http://schemas.microsoft.com/office/drawing/2014/main" id="{C230E7CB-0065-47B3-A5C2-ED062446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62250"/>
            <a:ext cx="2990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L1 文件 · L2 频率 · L3 空间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L4 能量 · L5 感知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客观指标用于 QC 与证据补充；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人工听评完成最终语义裁决</a:t>
            </a:r>
          </a:p>
        </p:txBody>
      </p:sp>
      <p:sp>
        <p:nvSpPr>
          <p:cNvPr id="13" name="text-25">
            <a:extLst xmlns:a="http://schemas.openxmlformats.org/drawingml/2006/main">
              <a:ext uri="{FF2B5EF4-FFF2-40B4-BE49-F238E27FC236}">
                <a16:creationId xmlns:a16="http://schemas.microsoft.com/office/drawing/2014/main" id="{6D8262E0-18B1-4464-8079-2EA2033C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629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 评测标准</a:t>
            </a:r>
          </a:p>
        </p:txBody>
      </p:sp>
      <p:sp>
        <p:nvSpPr>
          <p:cNvPr id="14" name="shape-26">
            <a:extLst xmlns:a="http://schemas.openxmlformats.org/drawingml/2006/main">
              <a:ext uri="{FF2B5EF4-FFF2-40B4-BE49-F238E27FC236}">
                <a16:creationId xmlns:a16="http://schemas.microsoft.com/office/drawing/2014/main" id="{D7FF1486-CF6D-4F38-85FA-8CB20AC8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-27">
            <a:extLst xmlns:a="http://schemas.openxmlformats.org/drawingml/2006/main">
              <a:ext uri="{FF2B5EF4-FFF2-40B4-BE49-F238E27FC236}">
                <a16:creationId xmlns:a16="http://schemas.microsoft.com/office/drawing/2014/main" id="{FCBF515C-9F6C-4A36-884F-EE427BDC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717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数据治理与诊断</a:t>
            </a:r>
          </a:p>
        </p:txBody>
      </p:sp>
      <p:sp>
        <p:nvSpPr>
          <p:cNvPr id="16" name="text-28">
            <a:extLst xmlns:a="http://schemas.openxmlformats.org/drawingml/2006/main">
              <a:ext uri="{FF2B5EF4-FFF2-40B4-BE49-F238E27FC236}">
                <a16:creationId xmlns:a16="http://schemas.microsoft.com/office/drawing/2014/main" id="{B42786E4-A426-42DA-A69F-31A32127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2990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OVL / REL 与事件级诊断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主次事件、属性、时序、次数、伪影、人工决策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隐藏重复、Prompt 聚类、seed 方差、Badcase 报告</a:t>
            </a:r>
          </a:p>
        </p:txBody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945A38EA-B33C-4CBC-B8A0-C1871B1A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29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 复核</a:t>
            </a:r>
          </a:p>
        </p:txBody>
      </p:sp>
      <p:sp>
        <p:nvSpPr>
          <p:cNvPr id="18" name="rule-30">
            <a:extLst xmlns:a="http://schemas.openxmlformats.org/drawingml/2006/main">
              <a:ext uri="{FF2B5EF4-FFF2-40B4-BE49-F238E27FC236}">
                <a16:creationId xmlns:a16="http://schemas.microsoft.com/office/drawing/2014/main" id="{DEA31562-8EEE-4883-A2FD-A08F1969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-31">
            <a:extLst xmlns:a="http://schemas.openxmlformats.org/drawingml/2006/main">
              <a:ext uri="{FF2B5EF4-FFF2-40B4-BE49-F238E27FC236}">
                <a16:creationId xmlns:a16="http://schemas.microsoft.com/office/drawing/2014/main" id="{13B54AF6-5F8B-4D51-B64C-64DECFB7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可追溯的 Badcase 记录</a:t>
            </a:r>
          </a:p>
        </p:txBody>
      </p:sp>
    </p:spTree>
    <p:extLst>
      <p:ext uri="{BB962C8B-B14F-4D97-AF65-F5344CB8AC3E}">
        <p14:creationId xmlns:p14="http://schemas.microsoft.com/office/powerpoint/2010/main" val="10762476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5EB446C4-0804-43DB-B946-6D95D237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T2A 音效生成评测 PoC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F8075DE-C85A-4BD7-B585-D75AC250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五层评测框架及各层指标职责</a:t>
            </a:r>
          </a:p>
        </p:txBody>
      </p:sp>
      <p:sp>
        <p:nvSpPr>
          <p:cNvPr id="3" name="rule-17">
            <a:extLst xmlns:a="http://schemas.openxmlformats.org/drawingml/2006/main">
              <a:ext uri="{FF2B5EF4-FFF2-40B4-BE49-F238E27FC236}">
                <a16:creationId xmlns:a16="http://schemas.microsoft.com/office/drawing/2014/main" id="{8EE3C7BE-34D3-4B98-BAD4-83556316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ource-3">
            <a:extLst xmlns:a="http://schemas.openxmlformats.org/drawingml/2006/main">
              <a:ext uri="{FF2B5EF4-FFF2-40B4-BE49-F238E27FC236}">
                <a16:creationId xmlns:a16="http://schemas.microsoft.com/office/drawing/2014/main" id="{5F5C64B9-B8F0-4EB7-B1CE-79E6F40B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正式统计版本 · n=200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6F3E1A7F-6B8B-4E11-A95F-AB3B4287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04 / 14</a:t>
            </a:r>
          </a:p>
        </p:txBody>
      </p:sp>
      <p:sp>
        <p:nvSpPr>
          <p:cNvPr id="6" name="shape-18">
            <a:extLst xmlns:a="http://schemas.openxmlformats.org/drawingml/2006/main">
              <a:ext uri="{FF2B5EF4-FFF2-40B4-BE49-F238E27FC236}">
                <a16:creationId xmlns:a16="http://schemas.microsoft.com/office/drawing/2014/main" id="{C94A5F52-E533-4455-A538-CB176C38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-19">
            <a:extLst xmlns:a="http://schemas.openxmlformats.org/drawingml/2006/main">
              <a:ext uri="{FF2B5EF4-FFF2-40B4-BE49-F238E27FC236}">
                <a16:creationId xmlns:a16="http://schemas.microsoft.com/office/drawing/2014/main" id="{C4AD1A49-6416-4C04-A401-7B36AE50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L1 · 文件与端点 QC</a:t>
            </a:r>
          </a:p>
        </p:txBody>
      </p:sp>
      <p:sp>
        <p:nvSpPr>
          <p:cNvPr id="8" name="text-20">
            <a:extLst xmlns:a="http://schemas.openxmlformats.org/drawingml/2006/main">
              <a:ext uri="{FF2B5EF4-FFF2-40B4-BE49-F238E27FC236}">
                <a16:creationId xmlns:a16="http://schemas.microsoft.com/office/drawing/2014/main" id="{1B2EFF14-21A6-4366-9D1E-C73B7617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990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200/200 可解码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10.0 s · 44.1 kHz · stereo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NaN/Inf 0；|DC|&gt;0.01：7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cutoff HIGH 0；MEDIUM 4 (2.0%)</a:t>
            </a:r>
          </a:p>
        </p:txBody>
      </p:sp>
      <p:sp>
        <p:nvSpPr>
          <p:cNvPr id="9" name="text-21">
            <a:extLst xmlns:a="http://schemas.openxmlformats.org/drawingml/2006/main">
              <a:ext uri="{FF2B5EF4-FFF2-40B4-BE49-F238E27FC236}">
                <a16:creationId xmlns:a16="http://schemas.microsoft.com/office/drawing/2014/main" id="{A691EE64-14F4-4856-9D2A-092DCF1E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批量检查</a:t>
            </a:r>
          </a:p>
        </p:txBody>
      </p:sp>
      <p:sp>
        <p:nvSpPr>
          <p:cNvPr id="10" name="shape-22">
            <a:extLst xmlns:a="http://schemas.openxmlformats.org/drawingml/2006/main">
              <a:ext uri="{FF2B5EF4-FFF2-40B4-BE49-F238E27FC236}">
                <a16:creationId xmlns:a16="http://schemas.microsoft.com/office/drawing/2014/main" id="{7531141E-EA49-4B35-A4BB-C428F781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2880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-23">
            <a:extLst xmlns:a="http://schemas.openxmlformats.org/drawingml/2006/main">
              <a:ext uri="{FF2B5EF4-FFF2-40B4-BE49-F238E27FC236}">
                <a16:creationId xmlns:a16="http://schemas.microsoft.com/office/drawing/2014/main" id="{A5A7484A-1268-4F1E-BD9F-73018DB5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717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L2 频率 · L3 空间</a:t>
            </a:r>
          </a:p>
        </p:txBody>
      </p:sp>
      <p:sp>
        <p:nvSpPr>
          <p:cNvPr id="12" name="text-24">
            <a:extLst xmlns:a="http://schemas.openxmlformats.org/drawingml/2006/main">
              <a:ext uri="{FF2B5EF4-FFF2-40B4-BE49-F238E27FC236}">
                <a16:creationId xmlns:a16="http://schemas.microsoft.com/office/drawing/2014/main" id="{C230E7CB-0065-47B3-A5C2-ED062446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62250"/>
            <a:ext cx="2990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频谱 / 频段能量 / centroid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L/R 能量 / correlation / phase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声像移动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用于定位音色、空间与方向线索；不替代语义裁决</a:t>
            </a:r>
          </a:p>
        </p:txBody>
      </p:sp>
      <p:sp>
        <p:nvSpPr>
          <p:cNvPr id="13" name="text-25">
            <a:extLst xmlns:a="http://schemas.openxmlformats.org/drawingml/2006/main">
              <a:ext uri="{FF2B5EF4-FFF2-40B4-BE49-F238E27FC236}">
                <a16:creationId xmlns:a16="http://schemas.microsoft.com/office/drawing/2014/main" id="{6D8262E0-18B1-4464-8079-2EA2033C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629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诊断特征</a:t>
            </a:r>
          </a:p>
        </p:txBody>
      </p:sp>
      <p:sp>
        <p:nvSpPr>
          <p:cNvPr id="14" name="shape-26">
            <a:extLst xmlns:a="http://schemas.openxmlformats.org/drawingml/2006/main">
              <a:ext uri="{FF2B5EF4-FFF2-40B4-BE49-F238E27FC236}">
                <a16:creationId xmlns:a16="http://schemas.microsoft.com/office/drawing/2014/main" id="{D7FF1486-CF6D-4F38-85FA-8CB20AC8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-27">
            <a:extLst xmlns:a="http://schemas.openxmlformats.org/drawingml/2006/main">
              <a:ext uri="{FF2B5EF4-FFF2-40B4-BE49-F238E27FC236}">
                <a16:creationId xmlns:a16="http://schemas.microsoft.com/office/drawing/2014/main" id="{FCBF515C-9F6C-4A36-884F-EE427BDC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717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L4 能量 · L5 感知</a:t>
            </a:r>
          </a:p>
        </p:txBody>
      </p:sp>
      <p:sp>
        <p:nvSpPr>
          <p:cNvPr id="16" name="text-28">
            <a:extLst xmlns:a="http://schemas.openxmlformats.org/drawingml/2006/main">
              <a:ext uri="{FF2B5EF4-FFF2-40B4-BE49-F238E27FC236}">
                <a16:creationId xmlns:a16="http://schemas.microsoft.com/office/drawing/2014/main" id="{B42786E4-A426-42DA-A69F-31A32127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2990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LUFS / true peak / 动态范围 / crest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OVL：整体试听质量；REL：Prompt 语义匹配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事件级诊断 + Badcase 是最终证据</a:t>
            </a:r>
          </a:p>
        </p:txBody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945A38EA-B33C-4CBC-B8A0-C1871B1A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29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人工裁决</a:t>
            </a:r>
          </a:p>
        </p:txBody>
      </p:sp>
      <p:sp>
        <p:nvSpPr>
          <p:cNvPr id="18" name="rule-30">
            <a:extLst xmlns:a="http://schemas.openxmlformats.org/drawingml/2006/main">
              <a:ext uri="{FF2B5EF4-FFF2-40B4-BE49-F238E27FC236}">
                <a16:creationId xmlns:a16="http://schemas.microsoft.com/office/drawing/2014/main" id="{DEA31562-8EEE-4883-A2FD-A08F1969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-31">
            <a:extLst xmlns:a="http://schemas.openxmlformats.org/drawingml/2006/main">
              <a:ext uri="{FF2B5EF4-FFF2-40B4-BE49-F238E27FC236}">
                <a16:creationId xmlns:a16="http://schemas.microsoft.com/office/drawing/2014/main" id="{13B54AF6-5F8B-4D51-B64C-64DECFB7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客观层用于 QC 与证据补充；最终语义裁决由人工 OVL / REL 与 Badcase 完成。</a:t>
            </a:r>
          </a:p>
        </p:txBody>
      </p:sp>
    </p:spTree>
    <p:extLst>
      <p:ext uri="{BB962C8B-B14F-4D97-AF65-F5344CB8AC3E}">
        <p14:creationId xmlns:p14="http://schemas.microsoft.com/office/powerpoint/2010/main" val="1076247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5EB446C4-0804-43DB-B946-6D95D237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T2A 音效生成评测 PoC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F8075DE-C85A-4BD7-B585-D75AC250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L1–L4 批量检测结果与风险定位</a:t>
            </a:r>
          </a:p>
        </p:txBody>
      </p:sp>
      <p:sp>
        <p:nvSpPr>
          <p:cNvPr id="3" name="rule-17">
            <a:extLst xmlns:a="http://schemas.openxmlformats.org/drawingml/2006/main">
              <a:ext uri="{FF2B5EF4-FFF2-40B4-BE49-F238E27FC236}">
                <a16:creationId xmlns:a16="http://schemas.microsoft.com/office/drawing/2014/main" id="{8EE3C7BE-34D3-4B98-BAD4-83556316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ource-3">
            <a:extLst xmlns:a="http://schemas.openxmlformats.org/drawingml/2006/main">
              <a:ext uri="{FF2B5EF4-FFF2-40B4-BE49-F238E27FC236}">
                <a16:creationId xmlns:a16="http://schemas.microsoft.com/office/drawing/2014/main" id="{5F5C64B9-B8F0-4EB7-B1CE-79E6F40B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数据：five_layer_v2.1_final · n=200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6F3E1A7F-6B8B-4E11-A95F-AB3B4287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05 / 14</a:t>
            </a:r>
          </a:p>
        </p:txBody>
      </p:sp>
      <p:sp>
        <p:nvSpPr>
          <p:cNvPr id="6" name="shape-18">
            <a:extLst xmlns:a="http://schemas.openxmlformats.org/drawingml/2006/main">
              <a:ext uri="{FF2B5EF4-FFF2-40B4-BE49-F238E27FC236}">
                <a16:creationId xmlns:a16="http://schemas.microsoft.com/office/drawing/2014/main" id="{C94A5F52-E533-4455-A538-CB176C38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-19">
            <a:extLst xmlns:a="http://schemas.openxmlformats.org/drawingml/2006/main">
              <a:ext uri="{FF2B5EF4-FFF2-40B4-BE49-F238E27FC236}">
                <a16:creationId xmlns:a16="http://schemas.microsoft.com/office/drawing/2014/main" id="{C4AD1A49-6416-4C04-A401-7B36AE50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L1 · 文件与端点 QC</a:t>
            </a:r>
          </a:p>
        </p:txBody>
      </p:sp>
      <p:sp>
        <p:nvSpPr>
          <p:cNvPr id="8" name="text-20">
            <a:extLst xmlns:a="http://schemas.openxmlformats.org/drawingml/2006/main">
              <a:ext uri="{FF2B5EF4-FFF2-40B4-BE49-F238E27FC236}">
                <a16:creationId xmlns:a16="http://schemas.microsoft.com/office/drawing/2014/main" id="{1B2EFF14-21A6-4366-9D1E-C73B7617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990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200/200 可解码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10.0 s · 44.1 kHz · stereo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cutoff HIGH 0；MEDIUM 4 (2.0%)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L1 用于文件 / 端点 QC</a:t>
            </a:r>
          </a:p>
        </p:txBody>
      </p:sp>
      <p:sp>
        <p:nvSpPr>
          <p:cNvPr id="9" name="text-21">
            <a:extLst xmlns:a="http://schemas.openxmlformats.org/drawingml/2006/main">
              <a:ext uri="{FF2B5EF4-FFF2-40B4-BE49-F238E27FC236}">
                <a16:creationId xmlns:a16="http://schemas.microsoft.com/office/drawing/2014/main" id="{A691EE64-14F4-4856-9D2A-092DCF1E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QC · n=200</a:t>
            </a:r>
          </a:p>
        </p:txBody>
      </p:sp>
      <p:sp>
        <p:nvSpPr>
          <p:cNvPr id="10" name="shape-22">
            <a:extLst xmlns:a="http://schemas.openxmlformats.org/drawingml/2006/main">
              <a:ext uri="{FF2B5EF4-FFF2-40B4-BE49-F238E27FC236}">
                <a16:creationId xmlns:a16="http://schemas.microsoft.com/office/drawing/2014/main" id="{7531141E-EA49-4B35-A4BB-C428F781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2880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-23">
            <a:extLst xmlns:a="http://schemas.openxmlformats.org/drawingml/2006/main">
              <a:ext uri="{FF2B5EF4-FFF2-40B4-BE49-F238E27FC236}">
                <a16:creationId xmlns:a16="http://schemas.microsoft.com/office/drawing/2014/main" id="{A5A7484A-1268-4F1E-BD9F-73018DB5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717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L2 频率 · L3 空间</a:t>
            </a:r>
          </a:p>
        </p:txBody>
      </p:sp>
      <p:sp>
        <p:nvSpPr>
          <p:cNvPr id="12" name="text-24">
            <a:extLst xmlns:a="http://schemas.openxmlformats.org/drawingml/2006/main">
              <a:ext uri="{FF2B5EF4-FFF2-40B4-BE49-F238E27FC236}">
                <a16:creationId xmlns:a16="http://schemas.microsoft.com/office/drawing/2014/main" id="{C230E7CB-0065-47B3-A5C2-ED062446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62250"/>
            <a:ext cx="2990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centroid p50 3.52 kHz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flatness p50 0.051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L/R corr p50 0.923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panning p50 0.277</a:t>
            </a:r>
          </a:p>
        </p:txBody>
      </p:sp>
      <p:sp>
        <p:nvSpPr>
          <p:cNvPr id="13" name="text-25">
            <a:extLst xmlns:a="http://schemas.openxmlformats.org/drawingml/2006/main">
              <a:ext uri="{FF2B5EF4-FFF2-40B4-BE49-F238E27FC236}">
                <a16:creationId xmlns:a16="http://schemas.microsoft.com/office/drawing/2014/main" id="{6D8262E0-18B1-4464-8079-2EA2033C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629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p50 · IQR 见报告</a:t>
            </a:r>
          </a:p>
        </p:txBody>
      </p:sp>
      <p:sp>
        <p:nvSpPr>
          <p:cNvPr id="14" name="shape-26">
            <a:extLst xmlns:a="http://schemas.openxmlformats.org/drawingml/2006/main">
              <a:ext uri="{FF2B5EF4-FFF2-40B4-BE49-F238E27FC236}">
                <a16:creationId xmlns:a16="http://schemas.microsoft.com/office/drawing/2014/main" id="{D7FF1486-CF6D-4F38-85FA-8CB20AC8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-27">
            <a:extLst xmlns:a="http://schemas.openxmlformats.org/drawingml/2006/main">
              <a:ext uri="{FF2B5EF4-FFF2-40B4-BE49-F238E27FC236}">
                <a16:creationId xmlns:a16="http://schemas.microsoft.com/office/drawing/2014/main" id="{FCBF515C-9F6C-4A36-884F-EE427BDC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717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L4 · 能量与动态</a:t>
            </a:r>
          </a:p>
        </p:txBody>
      </p:sp>
      <p:sp>
        <p:nvSpPr>
          <p:cNvPr id="16" name="text-28">
            <a:extLst xmlns:a="http://schemas.openxmlformats.org/drawingml/2006/main">
              <a:ext uri="{FF2B5EF4-FFF2-40B4-BE49-F238E27FC236}">
                <a16:creationId xmlns:a16="http://schemas.microsoft.com/office/drawing/2014/main" id="{B42786E4-A426-42DA-A69F-31A32127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2990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LUFS p50 −21.2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true peak p50 −0.8 dBTP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crest p50 20.3 dB</a:t>
            </a:r>
          </a:p>
        </p:txBody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945A38EA-B33C-4CBC-B8A0-C1871B1A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29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客观指标用于质量检查和问题定位；人工听评承担语义与可用性裁决。</a:t>
            </a:r>
          </a:p>
        </p:txBody>
      </p:sp>
      <p:sp>
        <p:nvSpPr>
          <p:cNvPr id="18" name="rule-30">
            <a:extLst xmlns:a="http://schemas.openxmlformats.org/drawingml/2006/main">
              <a:ext uri="{FF2B5EF4-FFF2-40B4-BE49-F238E27FC236}">
                <a16:creationId xmlns:a16="http://schemas.microsoft.com/office/drawing/2014/main" id="{DEA31562-8EEE-4883-A2FD-A08F1969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-31">
            <a:extLst xmlns:a="http://schemas.openxmlformats.org/drawingml/2006/main">
              <a:ext uri="{FF2B5EF4-FFF2-40B4-BE49-F238E27FC236}">
                <a16:creationId xmlns:a16="http://schemas.microsoft.com/office/drawing/2014/main" id="{13B54AF6-5F8B-4D51-B64C-64DECFB7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客观层用于 QC 与 Badcase 证据；语义是否正确仍由人工 OVL / REL 裁决。</a:t>
            </a:r>
          </a:p>
        </p:txBody>
      </p:sp>
    </p:spTree>
    <p:extLst>
      <p:ext uri="{BB962C8B-B14F-4D97-AF65-F5344CB8AC3E}">
        <p14:creationId xmlns:p14="http://schemas.microsoft.com/office/powerpoint/2010/main" val="10762476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5EB446C4-0804-43DB-B946-6D95D237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T2A 音效生成评测 PoC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F8075DE-C85A-4BD7-B585-D75AC250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客观指标与人工评分的 Prompt 层级关联分析</a:t>
            </a:r>
          </a:p>
        </p:txBody>
      </p:sp>
      <p:sp>
        <p:nvSpPr>
          <p:cNvPr id="3" name="rule-17">
            <a:extLst xmlns:a="http://schemas.openxmlformats.org/drawingml/2006/main">
              <a:ext uri="{FF2B5EF4-FFF2-40B4-BE49-F238E27FC236}">
                <a16:creationId xmlns:a16="http://schemas.microsoft.com/office/drawing/2014/main" id="{8EE3C7BE-34D3-4B98-BAD4-83556316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ource-3">
            <a:extLst xmlns:a="http://schemas.openxmlformats.org/drawingml/2006/main">
              <a:ext uri="{FF2B5EF4-FFF2-40B4-BE49-F238E27FC236}">
                <a16:creationId xmlns:a16="http://schemas.microsoft.com/office/drawing/2014/main" id="{5F5C64B9-B8F0-4EB7-B1CE-79E6F40B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数据：cross_validation_v1.1.2 · Prompt cluster n=40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6F3E1A7F-6B8B-4E11-A95F-AB3B4287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06 / 14</a:t>
            </a:r>
          </a:p>
        </p:txBody>
      </p:sp>
      <p:sp>
        <p:nvSpPr>
          <p:cNvPr id="6" name="shape-18">
            <a:extLst xmlns:a="http://schemas.openxmlformats.org/drawingml/2006/main">
              <a:ext uri="{FF2B5EF4-FFF2-40B4-BE49-F238E27FC236}">
                <a16:creationId xmlns:a16="http://schemas.microsoft.com/office/drawing/2014/main" id="{C94A5F52-E533-4455-A538-CB176C38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-19">
            <a:extLst xmlns:a="http://schemas.openxmlformats.org/drawingml/2006/main">
              <a:ext uri="{FF2B5EF4-FFF2-40B4-BE49-F238E27FC236}">
                <a16:creationId xmlns:a16="http://schemas.microsoft.com/office/drawing/2014/main" id="{C4AD1A49-6416-4C04-A401-7B36AE50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方法复现</a:t>
            </a:r>
          </a:p>
        </p:txBody>
      </p:sp>
      <p:sp>
        <p:nvSpPr>
          <p:cNvPr id="8" name="text-20">
            <a:extLst xmlns:a="http://schemas.openxmlformats.org/drawingml/2006/main">
              <a:ext uri="{FF2B5EF4-FFF2-40B4-BE49-F238E27FC236}">
                <a16:creationId xmlns:a16="http://schemas.microsoft.com/office/drawing/2014/main" id="{1B2EFF14-21A6-4366-9D1E-C73B7617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990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STFT 200/200 PASS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n_fft 2048 · hop 512</a:t>
            </a:r>
          </a:p>
          <a:p xmlns:a="http://schemas.openxmlformats.org/drawingml/2006/main">
            <a:pPr algn="l">
              <a:buNone/>
              <a:defRPr sz="14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Hann · center=True</a:t>
            </a:r>
          </a:p>
        </p:txBody>
      </p:sp>
      <p:sp>
        <p:nvSpPr>
          <p:cNvPr id="9" name="text-21">
            <a:extLst xmlns:a="http://schemas.openxmlformats.org/drawingml/2006/main">
              <a:ext uri="{FF2B5EF4-FFF2-40B4-BE49-F238E27FC236}">
                <a16:creationId xmlns:a16="http://schemas.microsoft.com/office/drawing/2014/main" id="{A691EE64-14F4-4856-9D2A-092DCF1E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方法复现</a:t>
            </a:r>
          </a:p>
        </p:txBody>
      </p:sp>
      <p:sp>
        <p:nvSpPr>
          <p:cNvPr id="10" name="shape-22">
            <a:extLst xmlns:a="http://schemas.openxmlformats.org/drawingml/2006/main">
              <a:ext uri="{FF2B5EF4-FFF2-40B4-BE49-F238E27FC236}">
                <a16:creationId xmlns:a16="http://schemas.microsoft.com/office/drawing/2014/main" id="{7531141E-EA49-4B35-A4BB-C428F781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2880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-23">
            <a:extLst xmlns:a="http://schemas.openxmlformats.org/drawingml/2006/main">
              <a:ext uri="{FF2B5EF4-FFF2-40B4-BE49-F238E27FC236}">
                <a16:creationId xmlns:a16="http://schemas.microsoft.com/office/drawing/2014/main" id="{A5A7484A-1268-4F1E-BD9F-73018DB5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717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主口径</a:t>
            </a:r>
          </a:p>
        </p:txBody>
      </p:sp>
      <p:sp>
        <p:nvSpPr>
          <p:cNvPr id="12" name="text-24">
            <a:extLst xmlns:a="http://schemas.openxmlformats.org/drawingml/2006/main">
              <a:ext uri="{FF2B5EF4-FFF2-40B4-BE49-F238E27FC236}">
                <a16:creationId xmlns:a16="http://schemas.microsoft.com/office/drawing/2014/main" id="{C230E7CB-0065-47B3-A5C2-ED062446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62250"/>
            <a:ext cx="2990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Prompt 聚类 n=40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17 指标 × OVL / REL</a:t>
            </a:r>
          </a:p>
          <a:p xmlns:a="http://schemas.openxmlformats.org/drawingml/2006/main">
            <a:pPr algn="l">
              <a:buNone/>
              <a:defRPr sz="14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同一 Prompt 先聚合再比较</a:t>
            </a:r>
          </a:p>
        </p:txBody>
      </p:sp>
      <p:sp>
        <p:nvSpPr>
          <p:cNvPr id="13" name="text-25">
            <a:extLst xmlns:a="http://schemas.openxmlformats.org/drawingml/2006/main">
              <a:ext uri="{FF2B5EF4-FFF2-40B4-BE49-F238E27FC236}">
                <a16:creationId xmlns:a16="http://schemas.microsoft.com/office/drawing/2014/main" id="{6D8262E0-18B1-4464-8079-2EA2033C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629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探索性分析</a:t>
            </a:r>
          </a:p>
        </p:txBody>
      </p:sp>
      <p:sp>
        <p:nvSpPr>
          <p:cNvPr id="14" name="shape-26">
            <a:extLst xmlns:a="http://schemas.openxmlformats.org/drawingml/2006/main">
              <a:ext uri="{FF2B5EF4-FFF2-40B4-BE49-F238E27FC236}">
                <a16:creationId xmlns:a16="http://schemas.microsoft.com/office/drawing/2014/main" id="{D7FF1486-CF6D-4F38-85FA-8CB20AC8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-27">
            <a:extLst xmlns:a="http://schemas.openxmlformats.org/drawingml/2006/main">
              <a:ext uri="{FF2B5EF4-FFF2-40B4-BE49-F238E27FC236}">
                <a16:creationId xmlns:a16="http://schemas.microsoft.com/office/drawing/2014/main" id="{FCBF515C-9F6C-4A36-884F-EE427BDC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717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代表性关联</a:t>
            </a:r>
          </a:p>
        </p:txBody>
      </p:sp>
      <p:sp>
        <p:nvSpPr>
          <p:cNvPr id="16" name="text-28">
            <a:extLst xmlns:a="http://schemas.openxmlformats.org/drawingml/2006/main">
              <a:ext uri="{FF2B5EF4-FFF2-40B4-BE49-F238E27FC236}">
                <a16:creationId xmlns:a16="http://schemas.microsoft.com/office/drawing/2014/main" id="{B42786E4-A426-42DA-A69F-31A32127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2990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尾段能量比 vs OVL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ρ = −0.540 [−0.729, −0.278]</a:t>
            </a:r>
          </a:p>
          <a:p xmlns:a="http://schemas.openxmlformats.org/drawingml/2006/main">
            <a:pPr algn="l">
              <a:buNone/>
              <a:defRPr sz="14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LUFS vs OVL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ρ = 0.442 [0.130, 0.686]</a:t>
            </a:r>
          </a:p>
        </p:txBody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945A38EA-B33C-4CBC-B8A0-C1871B1A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29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Prompt 层级</a:t>
            </a:r>
          </a:p>
        </p:txBody>
      </p:sp>
      <p:sp>
        <p:nvSpPr>
          <p:cNvPr id="18" name="rule-30">
            <a:extLst xmlns:a="http://schemas.openxmlformats.org/drawingml/2006/main">
              <a:ext uri="{FF2B5EF4-FFF2-40B4-BE49-F238E27FC236}">
                <a16:creationId xmlns:a16="http://schemas.microsoft.com/office/drawing/2014/main" id="{DEA31562-8EEE-4883-A2FD-A08F1969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-31">
            <a:extLst xmlns:a="http://schemas.openxmlformats.org/drawingml/2006/main">
              <a:ext uri="{FF2B5EF4-FFF2-40B4-BE49-F238E27FC236}">
                <a16:creationId xmlns:a16="http://schemas.microsoft.com/office/drawing/2014/main" id="{13B54AF6-5F8B-4D51-B64C-64DECFB7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结果属于探索性关联分析，可用于确定优先复听样本；不设置质量阈值，也不作因果解释。</a:t>
            </a:r>
          </a:p>
        </p:txBody>
      </p:sp>
    </p:spTree>
    <p:extLst>
      <p:ext uri="{BB962C8B-B14F-4D97-AF65-F5344CB8AC3E}">
        <p14:creationId xmlns:p14="http://schemas.microsoft.com/office/powerpoint/2010/main" val="1076247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10">
            <a:extLst xmlns:a="http://schemas.openxmlformats.org/drawingml/2006/main">
              <a:ext uri="{FF2B5EF4-FFF2-40B4-BE49-F238E27FC236}">
                <a16:creationId xmlns:a16="http://schemas.microsoft.com/office/drawing/2014/main" id="{0C44A99E-8973-4B0A-AB79-44E4B678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T2A 音效生成评测 PoC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810B196-A73D-441B-8EEB-848F76B1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 CLAP 工作流与人工评分未见有效单调相关</a:t>
            </a:r>
          </a:p>
        </p:txBody>
      </p:sp>
      <p:sp>
        <p:nvSpPr>
          <p:cNvPr id="3" name="rule-110">
            <a:extLst xmlns:a="http://schemas.openxmlformats.org/drawingml/2006/main">
              <a:ext uri="{FF2B5EF4-FFF2-40B4-BE49-F238E27FC236}">
                <a16:creationId xmlns:a16="http://schemas.microsoft.com/office/drawing/2014/main" id="{AF593DC4-6766-4242-964B-8A076929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ource-10">
            <a:extLst xmlns:a="http://schemas.openxmlformats.org/drawingml/2006/main">
              <a:ext uri="{FF2B5EF4-FFF2-40B4-BE49-F238E27FC236}">
                <a16:creationId xmlns:a16="http://schemas.microsoft.com/office/drawing/2014/main" id="{EB6396F8-52E9-4DAD-B820-9FCF66F6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数据：CLAP 200/200 · five_layer_v2.1_final · n=200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C73F29EF-ADC0-4AB3-984C-C58AC4DC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07 / 14</a:t>
            </a:r>
          </a:p>
        </p:txBody>
      </p:sp>
      <p:sp>
        <p:nvSpPr>
          <p:cNvPr id="6" name="shape-111">
            <a:extLst xmlns:a="http://schemas.openxmlformats.org/drawingml/2006/main">
              <a:ext uri="{FF2B5EF4-FFF2-40B4-BE49-F238E27FC236}">
                <a16:creationId xmlns:a16="http://schemas.microsoft.com/office/drawing/2014/main" id="{FB556898-3670-41A4-829E-4903DAE8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35623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-112">
            <a:extLst xmlns:a="http://schemas.openxmlformats.org/drawingml/2006/main">
              <a:ext uri="{FF2B5EF4-FFF2-40B4-BE49-F238E27FC236}">
                <a16:creationId xmlns:a16="http://schemas.microsoft.com/office/drawing/2014/main" id="{23E518EB-FC99-4FC1-9818-FFCB5914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CLAP vs REL</a:t>
            </a:r>
          </a:p>
        </p:txBody>
      </p:sp>
      <p:sp>
        <p:nvSpPr>
          <p:cNvPr id="8" name="text-113">
            <a:extLst xmlns:a="http://schemas.openxmlformats.org/drawingml/2006/main">
              <a:ext uri="{FF2B5EF4-FFF2-40B4-BE49-F238E27FC236}">
                <a16:creationId xmlns:a16="http://schemas.microsoft.com/office/drawing/2014/main" id="{E274F9B9-F310-4C6E-8DE1-785C8211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293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ρ = −0.007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95% CI [−0.145, 0.128]</a:t>
            </a:r>
          </a:p>
        </p:txBody>
      </p:sp>
      <p:sp>
        <p:nvSpPr>
          <p:cNvPr id="9" name="shape-114">
            <a:extLst xmlns:a="http://schemas.openxmlformats.org/drawingml/2006/main">
              <a:ext uri="{FF2B5EF4-FFF2-40B4-BE49-F238E27FC236}">
                <a16:creationId xmlns:a16="http://schemas.microsoft.com/office/drawing/2014/main" id="{0890F86B-B550-4F39-80F5-742EAA5A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62150"/>
            <a:ext cx="35623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A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-115">
            <a:extLst xmlns:a="http://schemas.openxmlformats.org/drawingml/2006/main">
              <a:ext uri="{FF2B5EF4-FFF2-40B4-BE49-F238E27FC236}">
                <a16:creationId xmlns:a16="http://schemas.microsoft.com/office/drawing/2014/main" id="{449F19F9-E226-4274-A67A-6F0F8A67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241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CLAP vs OVL</a:t>
            </a:r>
          </a:p>
        </p:txBody>
      </p:sp>
      <p:sp>
        <p:nvSpPr>
          <p:cNvPr id="11" name="text-116">
            <a:extLst xmlns:a="http://schemas.openxmlformats.org/drawingml/2006/main">
              <a:ext uri="{FF2B5EF4-FFF2-40B4-BE49-F238E27FC236}">
                <a16:creationId xmlns:a16="http://schemas.microsoft.com/office/drawing/2014/main" id="{9FA77D27-3C50-4CA0-BE46-08124E2A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09900"/>
            <a:ext cx="293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ρ = −0.015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95% CI [−0.152, 0.122]</a:t>
            </a:r>
          </a:p>
        </p:txBody>
      </p:sp>
      <p:sp>
        <p:nvSpPr>
          <p:cNvPr id="12" name="shape-117">
            <a:extLst xmlns:a="http://schemas.openxmlformats.org/drawingml/2006/main">
              <a:ext uri="{FF2B5EF4-FFF2-40B4-BE49-F238E27FC236}">
                <a16:creationId xmlns:a16="http://schemas.microsoft.com/office/drawing/2014/main" id="{5DEA058B-2C2A-41E7-A8A3-FD1B6FA2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2150"/>
            <a:ext cx="35623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-118">
            <a:extLst xmlns:a="http://schemas.openxmlformats.org/drawingml/2006/main">
              <a:ext uri="{FF2B5EF4-FFF2-40B4-BE49-F238E27FC236}">
                <a16:creationId xmlns:a16="http://schemas.microsoft.com/office/drawing/2014/main" id="{4CF60A67-04DC-415A-A6FD-5B74BC73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FAD / JS</a:t>
            </a:r>
          </a:p>
        </p:txBody>
      </p:sp>
      <p:sp>
        <p:nvSpPr>
          <p:cNvPr id="14" name="text-119">
            <a:extLst xmlns:a="http://schemas.openxmlformats.org/drawingml/2006/main">
              <a:ext uri="{FF2B5EF4-FFF2-40B4-BE49-F238E27FC236}">
                <a16:creationId xmlns:a16="http://schemas.microsoft.com/office/drawing/2014/main" id="{8AA08828-47D0-4CA4-A1B6-7120208F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293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NOT RUN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缺少合法且类别对齐的参考集</a:t>
            </a:r>
          </a:p>
        </p:txBody>
      </p:sp>
      <p:sp>
        <p:nvSpPr>
          <p:cNvPr id="15" name="shape-120">
            <a:extLst xmlns:a="http://schemas.openxmlformats.org/drawingml/2006/main">
              <a:ext uri="{FF2B5EF4-FFF2-40B4-BE49-F238E27FC236}">
                <a16:creationId xmlns:a16="http://schemas.microsoft.com/office/drawing/2014/main" id="{126B8FA0-9684-4ABA-9E3D-CD184F42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3919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32833"/>
          </a:solidFill>
          <a:ln xmlns:a="http://schemas.openxmlformats.org/drawingml/2006/main" w="9525">
            <a:solidFill>
              <a:srgbClr val="23283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-121">
            <a:extLst xmlns:a="http://schemas.openxmlformats.org/drawingml/2006/main">
              <a:ext uri="{FF2B5EF4-FFF2-40B4-BE49-F238E27FC236}">
                <a16:creationId xmlns:a16="http://schemas.microsoft.com/office/drawing/2014/main" id="{1066E5A5-41D1-40B3-A3CC-CEAC3BA4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67325"/>
            <a:ext cx="1072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在当前实现和数据范围内，CLAP 不用于设置自动阈值，也不替代人工 REL、OVL 或事件级 Badcase 裁决。</a:t>
            </a:r>
          </a:p>
        </p:txBody>
      </p:sp>
      <p:sp>
        <p:nvSpPr>
          <p:cNvPr id="17" name="text-122">
            <a:extLst xmlns:a="http://schemas.openxmlformats.org/drawingml/2006/main">
              <a:ext uri="{FF2B5EF4-FFF2-40B4-BE49-F238E27FC236}">
                <a16:creationId xmlns:a16="http://schemas.microsoft.com/office/drawing/2014/main" id="{7E975C90-6D20-4801-9058-46F22701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不设硬阈值；不替代人工 OVL / REL 与事件级 Badcase 裁决。</a:t>
            </a:r>
          </a:p>
        </p:txBody>
      </p:sp>
    </p:spTree>
    <p:extLst>
      <p:ext uri="{BB962C8B-B14F-4D97-AF65-F5344CB8AC3E}">
        <p14:creationId xmlns:p14="http://schemas.microsoft.com/office/powerpoint/2010/main" val="5654072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4">
            <a:extLst xmlns:a="http://schemas.openxmlformats.org/drawingml/2006/main">
              <a:ext uri="{FF2B5EF4-FFF2-40B4-BE49-F238E27FC236}">
                <a16:creationId xmlns:a16="http://schemas.microsoft.com/office/drawing/2014/main" id="{CBB86AE7-5F66-484F-8FA7-F700D430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T2A 音效生成评测 PoC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575F709-87FA-4781-87D5-F5ED2DA7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整体质量评分较高，文本相关性分布更为集中</a:t>
            </a:r>
          </a:p>
        </p:txBody>
      </p:sp>
      <p:sp>
        <p:nvSpPr>
          <p:cNvPr id="3" name="rule-32">
            <a:extLst xmlns:a="http://schemas.openxmlformats.org/drawingml/2006/main">
              <a:ext uri="{FF2B5EF4-FFF2-40B4-BE49-F238E27FC236}">
                <a16:creationId xmlns:a16="http://schemas.microsoft.com/office/drawing/2014/main" id="{12F23142-DD83-4BE2-B11A-C19C0CAC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ource-4">
            <a:extLst xmlns:a="http://schemas.openxmlformats.org/drawingml/2006/main">
              <a:ext uri="{FF2B5EF4-FFF2-40B4-BE49-F238E27FC236}">
                <a16:creationId xmlns:a16="http://schemas.microsoft.com/office/drawing/2014/main" id="{383211EF-FF1E-4877-97B6-D41866FD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正式统计版本 · n=200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4AFD54CD-32C6-4A47-91E4-2442E859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08 / 14</a:t>
            </a:r>
          </a:p>
        </p:txBody>
      </p:sp>
      <p:sp>
        <p:nvSpPr>
          <p:cNvPr id="6" name="shape-33">
            <a:extLst xmlns:a="http://schemas.openxmlformats.org/drawingml/2006/main">
              <a:ext uri="{FF2B5EF4-FFF2-40B4-BE49-F238E27FC236}">
                <a16:creationId xmlns:a16="http://schemas.microsoft.com/office/drawing/2014/main" id="{07070686-E708-4486-B8F2-8068197A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68961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5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f45f793654ebb"/>
          <a:stretch xmlns:a="http://schemas.openxmlformats.org/drawingml/2006/main"/>
        </p:blipFill>
        <p:spPr>
          <a:xfrm xmlns:a="http://schemas.openxmlformats.org/drawingml/2006/main">
            <a:off x="533400" y="1792605"/>
            <a:ext cx="6629400" cy="3977640"/>
          </a:xfrm>
          <a:prstGeom xmlns:a="http://schemas.openxmlformats.org/drawingml/2006/main" prst="rect">
            <a:avLst/>
          </a:prstGeom>
        </p:spPr>
      </p:pic>
      <p:sp>
        <p:nvSpPr>
          <p:cNvPr id="8" name="shape-35">
            <a:extLst xmlns:a="http://schemas.openxmlformats.org/drawingml/2006/main">
              <a:ext uri="{FF2B5EF4-FFF2-40B4-BE49-F238E27FC236}">
                <a16:creationId xmlns:a16="http://schemas.microsoft.com/office/drawing/2014/main" id="{6BCAD1F6-3B43-4060-894A-F9843A07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581150"/>
            <a:ext cx="4133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A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-36">
            <a:extLst xmlns:a="http://schemas.openxmlformats.org/drawingml/2006/main">
              <a:ext uri="{FF2B5EF4-FFF2-40B4-BE49-F238E27FC236}">
                <a16:creationId xmlns:a16="http://schemas.microsoft.com/office/drawing/2014/main" id="{E0F418DE-3100-4872-B3D6-7C98A4BF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51.0%</a:t>
            </a:r>
          </a:p>
        </p:txBody>
      </p:sp>
      <p:sp>
        <p:nvSpPr>
          <p:cNvPr id="10" name="text-37">
            <a:extLst xmlns:a="http://schemas.openxmlformats.org/drawingml/2006/main">
              <a:ext uri="{FF2B5EF4-FFF2-40B4-BE49-F238E27FC236}">
                <a16:creationId xmlns:a16="http://schemas.microsoft.com/office/drawing/2014/main" id="{0C017529-812F-4ED2-9395-5D088049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样本的 OVL 得分为 5</a:t>
            </a:r>
          </a:p>
        </p:txBody>
      </p:sp>
      <p:sp>
        <p:nvSpPr>
          <p:cNvPr id="11" name="shape-38">
            <a:extLst xmlns:a="http://schemas.openxmlformats.org/drawingml/2006/main">
              <a:ext uri="{FF2B5EF4-FFF2-40B4-BE49-F238E27FC236}">
                <a16:creationId xmlns:a16="http://schemas.microsoft.com/office/drawing/2014/main" id="{B6F16AEC-9693-44AC-8A8E-E2398360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52750"/>
            <a:ext cx="4133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-39">
            <a:extLst xmlns:a="http://schemas.openxmlformats.org/drawingml/2006/main">
              <a:ext uri="{FF2B5EF4-FFF2-40B4-BE49-F238E27FC236}">
                <a16:creationId xmlns:a16="http://schemas.microsoft.com/office/drawing/2014/main" id="{EF81C1BB-D39A-4FA8-86E1-695FE5CD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51.5%</a:t>
            </a:r>
          </a:p>
        </p:txBody>
      </p:sp>
      <p:sp>
        <p:nvSpPr>
          <p:cNvPr id="13" name="text-40">
            <a:extLst xmlns:a="http://schemas.openxmlformats.org/drawingml/2006/main">
              <a:ext uri="{FF2B5EF4-FFF2-40B4-BE49-F238E27FC236}">
                <a16:creationId xmlns:a16="http://schemas.microsoft.com/office/drawing/2014/main" id="{0CD89F49-A682-4040-AC54-454DCC04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57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样本的 REL 落在 3 分</a:t>
            </a:r>
          </a:p>
        </p:txBody>
      </p:sp>
      <p:sp>
        <p:nvSpPr>
          <p:cNvPr id="14" name="shape-41">
            <a:extLst xmlns:a="http://schemas.openxmlformats.org/drawingml/2006/main">
              <a:ext uri="{FF2B5EF4-FFF2-40B4-BE49-F238E27FC236}">
                <a16:creationId xmlns:a16="http://schemas.microsoft.com/office/drawing/2014/main" id="{BECF5C2E-7A80-423E-8B55-3790CA60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24350"/>
            <a:ext cx="41338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232833"/>
          </a:solidFill>
          <a:ln xmlns:a="http://schemas.openxmlformats.org/drawingml/2006/main" w="9525">
            <a:solidFill>
              <a:srgbClr val="23283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-42">
            <a:extLst xmlns:a="http://schemas.openxmlformats.org/drawingml/2006/main">
              <a:ext uri="{FF2B5EF4-FFF2-40B4-BE49-F238E27FC236}">
                <a16:creationId xmlns:a16="http://schemas.microsoft.com/office/drawing/2014/main" id="{53E392B6-9EF0-41F7-ACF6-B9AF6924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91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解读</a:t>
            </a:r>
          </a:p>
        </p:txBody>
      </p:sp>
      <p:sp>
        <p:nvSpPr>
          <p:cNvPr id="16" name="text-43">
            <a:extLst xmlns:a="http://schemas.openxmlformats.org/drawingml/2006/main">
              <a:ext uri="{FF2B5EF4-FFF2-40B4-BE49-F238E27FC236}">
                <a16:creationId xmlns:a16="http://schemas.microsoft.com/office/drawing/2014/main" id="{B2DE277F-8F45-46AA-B244-3D20C652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91100"/>
            <a:ext cx="3371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多数样本具备较好的整体可听性，但在声源、数量、时序、方向和材料属性等细粒度要求上，仍需要独立进行语义评估。</a:t>
            </a:r>
          </a:p>
        </p:txBody>
      </p:sp>
    </p:spTree>
    <p:extLst>
      <p:ext uri="{BB962C8B-B14F-4D97-AF65-F5344CB8AC3E}">
        <p14:creationId xmlns:p14="http://schemas.microsoft.com/office/powerpoint/2010/main" val="5921532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5">
            <a:extLst xmlns:a="http://schemas.openxmlformats.org/drawingml/2006/main">
              <a:ext uri="{FF2B5EF4-FFF2-40B4-BE49-F238E27FC236}">
                <a16:creationId xmlns:a16="http://schemas.microsoft.com/office/drawing/2014/main" id="{BC3DB864-9D93-494E-862D-C70379B8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T2A 音效生成评测 PoC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A6D4227-A9F7-42C1-B442-6D39625D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OVL 与 REL 呈中等正相关，但两者不可互换</a:t>
            </a:r>
          </a:p>
        </p:txBody>
      </p:sp>
      <p:sp>
        <p:nvSpPr>
          <p:cNvPr id="3" name="rule-44">
            <a:extLst xmlns:a="http://schemas.openxmlformats.org/drawingml/2006/main">
              <a:ext uri="{FF2B5EF4-FFF2-40B4-BE49-F238E27FC236}">
                <a16:creationId xmlns:a16="http://schemas.microsoft.com/office/drawing/2014/main" id="{128B8922-976D-40F4-B51D-362490C0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ource-5">
            <a:extLst xmlns:a="http://schemas.openxmlformats.org/drawingml/2006/main">
              <a:ext uri="{FF2B5EF4-FFF2-40B4-BE49-F238E27FC236}">
                <a16:creationId xmlns:a16="http://schemas.microsoft.com/office/drawing/2014/main" id="{87BF645C-3F86-44C2-8A45-0BE4849A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正式统计版本 · n=200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9871E427-5CEA-4D88-8455-1298BC25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09 / 14</a:t>
            </a:r>
          </a:p>
        </p:txBody>
      </p:sp>
      <p:sp>
        <p:nvSpPr>
          <p:cNvPr id="6" name="shape-45">
            <a:extLst xmlns:a="http://schemas.openxmlformats.org/drawingml/2006/main">
              <a:ext uri="{FF2B5EF4-FFF2-40B4-BE49-F238E27FC236}">
                <a16:creationId xmlns:a16="http://schemas.microsoft.com/office/drawing/2014/main" id="{AF7FF110-3648-4326-A354-63442370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239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1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6271087a6430b"/>
          <a:stretch xmlns:a="http://schemas.openxmlformats.org/drawingml/2006/main"/>
        </p:blipFill>
        <p:spPr>
          <a:xfrm xmlns:a="http://schemas.openxmlformats.org/drawingml/2006/main">
            <a:off x="514350" y="1754505"/>
            <a:ext cx="7010400" cy="4206240"/>
          </a:xfrm>
          <a:prstGeom xmlns:a="http://schemas.openxmlformats.org/drawingml/2006/main" prst="rect">
            <a:avLst/>
          </a:prstGeom>
        </p:spPr>
      </p:pic>
      <p:sp>
        <p:nvSpPr>
          <p:cNvPr id="8" name="text-47">
            <a:extLst xmlns:a="http://schemas.openxmlformats.org/drawingml/2006/main">
              <a:ext uri="{FF2B5EF4-FFF2-40B4-BE49-F238E27FC236}">
                <a16:creationId xmlns:a16="http://schemas.microsoft.com/office/drawing/2014/main" id="{9F34D453-CF0B-4EE3-973A-27F58596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9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35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Spearman ρ = 0.372</a:t>
            </a:r>
          </a:p>
        </p:txBody>
      </p:sp>
      <p:sp>
        <p:nvSpPr>
          <p:cNvPr id="9" name="text-48">
            <a:extLst xmlns:a="http://schemas.openxmlformats.org/drawingml/2006/main">
              <a:ext uri="{FF2B5EF4-FFF2-40B4-BE49-F238E27FC236}">
                <a16:creationId xmlns:a16="http://schemas.microsoft.com/office/drawing/2014/main" id="{DF0DBE52-D156-48BF-BFCF-1DF2D134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Bootstrap 95% CI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[0.243, 0.486]</a:t>
            </a:r>
          </a:p>
        </p:txBody>
      </p:sp>
      <p:sp>
        <p:nvSpPr>
          <p:cNvPr id="10" name="rule-49">
            <a:extLst xmlns:a="http://schemas.openxmlformats.org/drawingml/2006/main">
              <a:ext uri="{FF2B5EF4-FFF2-40B4-BE49-F238E27FC236}">
                <a16:creationId xmlns:a16="http://schemas.microsoft.com/office/drawing/2014/main" id="{78BD0581-A14E-449E-81F3-07D4C4E3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-50">
            <a:extLst xmlns:a="http://schemas.openxmlformats.org/drawingml/2006/main">
              <a:ext uri="{FF2B5EF4-FFF2-40B4-BE49-F238E27FC236}">
                <a16:creationId xmlns:a16="http://schemas.microsoft.com/office/drawing/2014/main" id="{27594B96-FFD6-4E44-8D49-8D487924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3276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整体质量较高的样本，通常具有更好的文本相关性，但该关系不足以支持用 OVL 代替 REL。</a:t>
            </a:r>
          </a:p>
        </p:txBody>
      </p:sp>
      <p:sp>
        <p:nvSpPr>
          <p:cNvPr id="12" name="text-51">
            <a:extLst xmlns:a="http://schemas.openxmlformats.org/drawingml/2006/main">
              <a:ext uri="{FF2B5EF4-FFF2-40B4-BE49-F238E27FC236}">
                <a16:creationId xmlns:a16="http://schemas.microsoft.com/office/drawing/2014/main" id="{156A85ED-AFCC-4D5A-9BDC-2BE79D81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483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统计：Spearman；10,000 次 bootstrap，随机种子 42。</a:t>
            </a:r>
          </a:p>
        </p:txBody>
      </p:sp>
    </p:spTree>
    <p:extLst>
      <p:ext uri="{BB962C8B-B14F-4D97-AF65-F5344CB8AC3E}">
        <p14:creationId xmlns:p14="http://schemas.microsoft.com/office/powerpoint/2010/main" val="188246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6">
            <a:extLst xmlns:a="http://schemas.openxmlformats.org/drawingml/2006/main">
              <a:ext uri="{FF2B5EF4-FFF2-40B4-BE49-F238E27FC236}">
                <a16:creationId xmlns:a16="http://schemas.microsoft.com/office/drawing/2014/main" id="{95C214D4-FB46-4F1E-9EA6-01560DDA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T2A 音效生成评测 PoC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4566E62-FD42-4B80-A05B-FCF63D84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类别表现与同一 Prompt 的 seed 稳定性需分别分析</a:t>
            </a:r>
          </a:p>
        </p:txBody>
      </p:sp>
      <p:sp>
        <p:nvSpPr>
          <p:cNvPr id="3" name="rule-52">
            <a:extLst xmlns:a="http://schemas.openxmlformats.org/drawingml/2006/main">
              <a:ext uri="{FF2B5EF4-FFF2-40B4-BE49-F238E27FC236}">
                <a16:creationId xmlns:a16="http://schemas.microsoft.com/office/drawing/2014/main" id="{CD4BFB1A-1A1A-41DD-B48D-1E509B96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ource-6">
            <a:extLst xmlns:a="http://schemas.openxmlformats.org/drawingml/2006/main">
              <a:ext uri="{FF2B5EF4-FFF2-40B4-BE49-F238E27FC236}">
                <a16:creationId xmlns:a16="http://schemas.microsoft.com/office/drawing/2014/main" id="{9EE91112-30D6-4B35-9C3E-FA4906C1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正式统计版本 · n=200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F257E40F-A846-49BC-BE0E-6936F3B1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10 / 14</a:t>
            </a:r>
          </a:p>
        </p:txBody>
      </p:sp>
      <p:sp>
        <p:nvSpPr>
          <p:cNvPr id="6" name="text-53">
            <a:extLst xmlns:a="http://schemas.openxmlformats.org/drawingml/2006/main">
              <a:ext uri="{FF2B5EF4-FFF2-40B4-BE49-F238E27FC236}">
                <a16:creationId xmlns:a16="http://schemas.microsoft.com/office/drawing/2014/main" id="{46E075CA-DD4D-4759-9F0C-0F5CF5CE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类别均值用于比较不同音效类型的总体表现；Prompt 内标准差用于观察同一指令在不同 seed 下的输出波动。</a:t>
            </a:r>
          </a:p>
        </p:txBody>
      </p:sp>
      <p:sp>
        <p:nvSpPr>
          <p:cNvPr id="7" name="text-54">
            <a:extLst xmlns:a="http://schemas.openxmlformats.org/drawingml/2006/main">
              <a:ext uri="{FF2B5EF4-FFF2-40B4-BE49-F238E27FC236}">
                <a16:creationId xmlns:a16="http://schemas.microsoft.com/office/drawing/2014/main" id="{0167F89A-1640-4EF8-957D-FCDB0839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类别 OVL / REL</a:t>
            </a:r>
          </a:p>
        </p:txBody>
      </p:sp>
      <p:sp>
        <p:nvSpPr>
          <p:cNvPr id="8" name="text-55">
            <a:extLst xmlns:a="http://schemas.openxmlformats.org/drawingml/2006/main">
              <a:ext uri="{FF2B5EF4-FFF2-40B4-BE49-F238E27FC236}">
                <a16:creationId xmlns:a16="http://schemas.microsoft.com/office/drawing/2014/main" id="{F05456F1-5613-465C-B284-C287775A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33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Prompt 内 5-seed 方差</a:t>
            </a:r>
          </a:p>
        </p:txBody>
      </p:sp>
      <p:sp>
        <p:nvSpPr>
          <p:cNvPr id="9" name="shape-56">
            <a:extLst xmlns:a="http://schemas.openxmlformats.org/drawingml/2006/main">
              <a:ext uri="{FF2B5EF4-FFF2-40B4-BE49-F238E27FC236}">
                <a16:creationId xmlns:a16="http://schemas.microsoft.com/office/drawing/2014/main" id="{00D80BB8-5E27-45B0-8D04-310CB094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5391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-57">
            <a:extLst xmlns:a="http://schemas.openxmlformats.org/drawingml/2006/main">
              <a:ext uri="{FF2B5EF4-FFF2-40B4-BE49-F238E27FC236}">
                <a16:creationId xmlns:a16="http://schemas.microsoft.com/office/drawing/2014/main" id="{741C7E2F-C111-4682-AA1F-E043986A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33650"/>
            <a:ext cx="5391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8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803c95c93467f"/>
          <a:stretch xmlns:a="http://schemas.openxmlformats.org/drawingml/2006/main"/>
        </p:blipFill>
        <p:spPr>
          <a:xfrm xmlns:a="http://schemas.openxmlformats.org/drawingml/2006/main">
            <a:off x="793750" y="2628900"/>
            <a:ext cx="4603750" cy="2762250"/>
          </a:xfrm>
          <a:prstGeom xmlns:a="http://schemas.openxmlformats.org/drawingml/2006/main" prst="rect">
            <a:avLst/>
          </a:prstGeom>
        </p:spPr>
      </p:pic>
      <p:pic>
        <p:nvPicPr>
          <p:cNvPr id="2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b754220fc4a9a"/>
          <a:stretch xmlns:a="http://schemas.openxmlformats.org/drawingml/2006/main"/>
        </p:blipFill>
        <p:spPr>
          <a:xfrm xmlns:a="http://schemas.openxmlformats.org/drawingml/2006/main">
            <a:off x="7634568" y="2628900"/>
            <a:ext cx="2599765" cy="2762250"/>
          </a:xfrm>
          <a:prstGeom xmlns:a="http://schemas.openxmlformats.org/drawingml/2006/main" prst="rect">
            <a:avLst/>
          </a:prstGeom>
        </p:spPr>
      </p:pic>
      <p:sp>
        <p:nvSpPr>
          <p:cNvPr id="13" name="text-60">
            <a:extLst xmlns:a="http://schemas.openxmlformats.org/drawingml/2006/main">
              <a:ext uri="{FF2B5EF4-FFF2-40B4-BE49-F238E27FC236}">
                <a16:creationId xmlns:a16="http://schemas.microsoft.com/office/drawing/2014/main" id="{BD2D3E06-F1D5-4E5B-A499-C1743EE4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本测试集内：魔法幻想 REL 均值最高；武器战斗 REL 最低；自然环境 OVL 最低。</a:t>
            </a:r>
          </a:p>
        </p:txBody>
      </p:sp>
      <p:sp>
        <p:nvSpPr>
          <p:cNvPr id="14" name="text-61">
            <a:extLst xmlns:a="http://schemas.openxmlformats.org/drawingml/2006/main">
              <a:ext uri="{FF2B5EF4-FFF2-40B4-BE49-F238E27FC236}">
                <a16:creationId xmlns:a16="http://schemas.microsoft.com/office/drawing/2014/main" id="{CEABE08C-5DF0-49C4-A2A7-FB152B81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71500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MEC_005 的 REL 标准差最高，提示同一 Prompt 的输出稳定性需优先关注。</a:t>
            </a:r>
          </a:p>
        </p:txBody>
      </p:sp>
    </p:spTree>
    <p:extLst>
      <p:ext uri="{BB962C8B-B14F-4D97-AF65-F5344CB8AC3E}">
        <p14:creationId xmlns:p14="http://schemas.microsoft.com/office/powerpoint/2010/main" val="18468944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7">
            <a:extLst xmlns:a="http://schemas.openxmlformats.org/drawingml/2006/main">
              <a:ext uri="{FF2B5EF4-FFF2-40B4-BE49-F238E27FC236}">
                <a16:creationId xmlns:a16="http://schemas.microsoft.com/office/drawing/2014/main" id="{010C3D0E-5C7B-47DA-85FD-2C7B6E6F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T2A 音效生成评测 PoC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8CB6AF3-1218-4368-8271-41E33F22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Badcase 用于专项复测设计，不用于推断模型内部机制</a:t>
            </a:r>
          </a:p>
        </p:txBody>
      </p:sp>
      <p:sp>
        <p:nvSpPr>
          <p:cNvPr id="3" name="rule-62">
            <a:extLst xmlns:a="http://schemas.openxmlformats.org/drawingml/2006/main">
              <a:ext uri="{FF2B5EF4-FFF2-40B4-BE49-F238E27FC236}">
                <a16:creationId xmlns:a16="http://schemas.microsoft.com/office/drawing/2014/main" id="{B6C6EFF0-E900-4626-A3D1-9CCAE5E2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ource-7">
            <a:extLst xmlns:a="http://schemas.openxmlformats.org/drawingml/2006/main">
              <a:ext uri="{FF2B5EF4-FFF2-40B4-BE49-F238E27FC236}">
                <a16:creationId xmlns:a16="http://schemas.microsoft.com/office/drawing/2014/main" id="{5F595557-BA9F-427D-B4BC-A9205C5E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正式统计版本 · n=200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A71BF7EA-7F7C-4BC0-8B0F-6087A81B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11 / 14</a:t>
            </a:r>
          </a:p>
        </p:txBody>
      </p:sp>
      <p:sp>
        <p:nvSpPr>
          <p:cNvPr id="6" name="shape-63">
            <a:extLst xmlns:a="http://schemas.openxmlformats.org/drawingml/2006/main">
              <a:ext uri="{FF2B5EF4-FFF2-40B4-BE49-F238E27FC236}">
                <a16:creationId xmlns:a16="http://schemas.microsoft.com/office/drawing/2014/main" id="{5B4870C3-4BA2-4BA7-AAEB-566388B8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1816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ad59f16f34938"/>
          <a:stretch xmlns:a="http://schemas.openxmlformats.org/drawingml/2006/main"/>
        </p:blipFill>
        <p:spPr>
          <a:xfrm xmlns:a="http://schemas.openxmlformats.org/drawingml/2006/main">
            <a:off x="533400" y="2193608"/>
            <a:ext cx="4914900" cy="3194685"/>
          </a:xfrm>
          <a:prstGeom xmlns:a="http://schemas.openxmlformats.org/drawingml/2006/main" prst="rect">
            <a:avLst/>
          </a:prstGeom>
        </p:spPr>
      </p:pic>
      <p:sp>
        <p:nvSpPr>
          <p:cNvPr id="8" name="shape-65">
            <a:extLst xmlns:a="http://schemas.openxmlformats.org/drawingml/2006/main">
              <a:ext uri="{FF2B5EF4-FFF2-40B4-BE49-F238E27FC236}">
                <a16:creationId xmlns:a16="http://schemas.microsoft.com/office/drawing/2014/main" id="{4D841D8A-67E1-4172-9E5B-5425B0C4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5791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A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-66">
            <a:extLst xmlns:a="http://schemas.openxmlformats.org/drawingml/2006/main">
              <a:ext uri="{FF2B5EF4-FFF2-40B4-BE49-F238E27FC236}">
                <a16:creationId xmlns:a16="http://schemas.microsoft.com/office/drawing/2014/main" id="{DC1E0CEE-2C07-42A5-A606-8EA9B081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wrong_count · 39</a:t>
            </a:r>
          </a:p>
        </p:txBody>
      </p:sp>
      <p:sp>
        <p:nvSpPr>
          <p:cNvPr id="10" name="text-67">
            <a:extLst xmlns:a="http://schemas.openxmlformats.org/drawingml/2006/main">
              <a:ext uri="{FF2B5EF4-FFF2-40B4-BE49-F238E27FC236}">
                <a16:creationId xmlns:a16="http://schemas.microsoft.com/office/drawing/2014/main" id="{9B3CCAFE-E6C4-4AD5-858E-86968D33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明确数量要求的专项 stress set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例如单次、双次、顺序与额外事件。</a:t>
            </a:r>
          </a:p>
        </p:txBody>
      </p:sp>
      <p:sp>
        <p:nvSpPr>
          <p:cNvPr id="11" name="shape-68">
            <a:extLst xmlns:a="http://schemas.openxmlformats.org/drawingml/2006/main">
              <a:ext uri="{FF2B5EF4-FFF2-40B4-BE49-F238E27FC236}">
                <a16:creationId xmlns:a16="http://schemas.microsoft.com/office/drawing/2014/main" id="{8530DF0D-2529-491B-A5E6-A78FB531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791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-69">
            <a:extLst xmlns:a="http://schemas.openxmlformats.org/drawingml/2006/main">
              <a:ext uri="{FF2B5EF4-FFF2-40B4-BE49-F238E27FC236}">
                <a16:creationId xmlns:a16="http://schemas.microsoft.com/office/drawing/2014/main" id="{56DE58C7-9EC3-4414-9AA9-CE4F2787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attribute_mismatch · 34</a:t>
            </a:r>
          </a:p>
        </p:txBody>
      </p:sp>
      <p:sp>
        <p:nvSpPr>
          <p:cNvPr id="13" name="text-70">
            <a:extLst xmlns:a="http://schemas.openxmlformats.org/drawingml/2006/main">
              <a:ext uri="{FF2B5EF4-FFF2-40B4-BE49-F238E27FC236}">
                <a16:creationId xmlns:a16="http://schemas.microsoft.com/office/drawing/2014/main" id="{A94E4373-A81C-4E23-A035-D7C3E590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围绕材料、清脆度与显著度建立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更明确的属性对照 Prompt。</a:t>
            </a:r>
          </a:p>
        </p:txBody>
      </p:sp>
      <p:sp>
        <p:nvSpPr>
          <p:cNvPr id="14" name="shape-71">
            <a:extLst xmlns:a="http://schemas.openxmlformats.org/drawingml/2006/main">
              <a:ext uri="{FF2B5EF4-FFF2-40B4-BE49-F238E27FC236}">
                <a16:creationId xmlns:a16="http://schemas.microsoft.com/office/drawing/2014/main" id="{C5FDFA9A-A601-4BEE-851E-0AE400B2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14850"/>
            <a:ext cx="5791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-72">
            <a:extLst xmlns:a="http://schemas.openxmlformats.org/drawingml/2006/main">
              <a:ext uri="{FF2B5EF4-FFF2-40B4-BE49-F238E27FC236}">
                <a16:creationId xmlns:a16="http://schemas.microsoft.com/office/drawing/2014/main" id="{2B0E2884-2CFE-4668-92A7-0B6891E5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none · 45</a:t>
            </a:r>
          </a:p>
        </p:txBody>
      </p:sp>
      <p:sp>
        <p:nvSpPr>
          <p:cNvPr id="16" name="text-73">
            <a:extLst xmlns:a="http://schemas.openxmlformats.org/drawingml/2006/main">
              <a:ext uri="{FF2B5EF4-FFF2-40B4-BE49-F238E27FC236}">
                <a16:creationId xmlns:a16="http://schemas.microsoft.com/office/drawing/2014/main" id="{9A8AB973-F58F-482B-8BE6-800172D1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保留正向样本，避免只用失败样本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描述系统表现。</a:t>
            </a:r>
          </a:p>
        </p:txBody>
      </p:sp>
      <p:sp>
        <p:nvSpPr>
          <p:cNvPr id="17" name="text-74">
            <a:extLst xmlns:a="http://schemas.openxmlformats.org/drawingml/2006/main">
              <a:ext uri="{FF2B5EF4-FFF2-40B4-BE49-F238E27FC236}">
                <a16:creationId xmlns:a16="http://schemas.microsoft.com/office/drawing/2014/main" id="{EEBCA8B0-134B-46EF-8432-D8812103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674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D372F"/>
                </a:solidFill>
                <a:latin typeface="Microsoft YaHei"/>
                <a:ea typeface="Microsoft YaHei"/>
                <a:cs typeface="Microsoft YaHei"/>
              </a:defRPr>
            </a:pPr>
            <a:r>
              <a:t>诊断标签描述的是当前样本的可观察输出，不直接对应模型内部原因。</a:t>
            </a:r>
          </a:p>
        </p:txBody>
      </p:sp>
    </p:spTree>
    <p:extLst>
      <p:ext uri="{BB962C8B-B14F-4D97-AF65-F5344CB8AC3E}">
        <p14:creationId xmlns:p14="http://schemas.microsoft.com/office/powerpoint/2010/main" val="2062617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-8">
            <a:extLst xmlns:a="http://schemas.openxmlformats.org/drawingml/2006/main">
              <a:ext uri="{FF2B5EF4-FFF2-40B4-BE49-F238E27FC236}">
                <a16:creationId xmlns:a16="http://schemas.microsoft.com/office/drawing/2014/main" id="{F70D963D-582E-40D2-9C45-9C6DC59D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T2A 音效生成评测 PoC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A699D68C-687F-407D-8A69-ADFB91C9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试听案例：从汇总结果回溯至单条样本</a:t>
            </a:r>
          </a:p>
        </p:txBody>
      </p:sp>
      <p:sp>
        <p:nvSpPr>
          <p:cNvPr id="3" name="rule-75">
            <a:extLst xmlns:a="http://schemas.openxmlformats.org/drawingml/2006/main">
              <a:ext uri="{FF2B5EF4-FFF2-40B4-BE49-F238E27FC236}">
                <a16:creationId xmlns:a16="http://schemas.microsoft.com/office/drawing/2014/main" id="{17D4583C-2007-4544-AF50-9769496B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ource-8">
            <a:extLst xmlns:a="http://schemas.openxmlformats.org/drawingml/2006/main">
              <a:ext uri="{FF2B5EF4-FFF2-40B4-BE49-F238E27FC236}">
                <a16:creationId xmlns:a16="http://schemas.microsoft.com/office/drawing/2014/main" id="{F2B712AC-8E09-406A-8417-AE5E3F77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正式统计版本 · n=200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61B7CF07-3C7C-44FC-9C89-B18D4DDB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12 / 14</a:t>
            </a:r>
          </a:p>
        </p:txBody>
      </p:sp>
      <p:sp>
        <p:nvSpPr>
          <p:cNvPr id="6" name="shape-76">
            <a:extLst xmlns:a="http://schemas.openxmlformats.org/drawingml/2006/main">
              <a:ext uri="{FF2B5EF4-FFF2-40B4-BE49-F238E27FC236}">
                <a16:creationId xmlns:a16="http://schemas.microsoft.com/office/drawing/2014/main" id="{E35750D3-A3F5-49FF-A8E1-D91F6042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33"/>
          </a:solidFill>
          <a:ln xmlns:a="http://schemas.openxmlformats.org/drawingml/2006/main" w="9525">
            <a:solidFill>
              <a:srgbClr val="23283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-77">
            <a:extLst xmlns:a="http://schemas.openxmlformats.org/drawingml/2006/main">
              <a:ext uri="{FF2B5EF4-FFF2-40B4-BE49-F238E27FC236}">
                <a16:creationId xmlns:a16="http://schemas.microsoft.com/office/drawing/2014/main" id="{1D3218C6-E315-42F1-826A-9A9B7789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 / 样本</a:t>
            </a:r>
          </a:p>
        </p:txBody>
      </p:sp>
      <p:sp>
        <p:nvSpPr>
          <p:cNvPr id="8" name="text-78">
            <a:extLst xmlns:a="http://schemas.openxmlformats.org/drawingml/2006/main">
              <a:ext uri="{FF2B5EF4-FFF2-40B4-BE49-F238E27FC236}">
                <a16:creationId xmlns:a16="http://schemas.microsoft.com/office/drawing/2014/main" id="{382B68A6-D6B9-40A5-8426-8A2FD176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621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sp>
        <p:nvSpPr>
          <p:cNvPr id="9" name="text-79">
            <a:extLst xmlns:a="http://schemas.openxmlformats.org/drawingml/2006/main">
              <a:ext uri="{FF2B5EF4-FFF2-40B4-BE49-F238E27FC236}">
                <a16:creationId xmlns:a16="http://schemas.microsoft.com/office/drawing/2014/main" id="{B07D76C8-E50E-49C1-8742-8FF11505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621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10" name="text-80">
            <a:extLst xmlns:a="http://schemas.openxmlformats.org/drawingml/2006/main">
              <a:ext uri="{FF2B5EF4-FFF2-40B4-BE49-F238E27FC236}">
                <a16:creationId xmlns:a16="http://schemas.microsoft.com/office/drawing/2014/main" id="{56898F46-4EA2-40C8-BA5B-AF02DD01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621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展示与比较方式</a:t>
            </a:r>
          </a:p>
        </p:txBody>
      </p:sp>
      <p:sp>
        <p:nvSpPr>
          <p:cNvPr id="11" name="shape-81">
            <a:extLst xmlns:a="http://schemas.openxmlformats.org/drawingml/2006/main">
              <a:ext uri="{FF2B5EF4-FFF2-40B4-BE49-F238E27FC236}">
                <a16:creationId xmlns:a16="http://schemas.microsoft.com/office/drawing/2014/main" id="{07D34B40-6864-497B-B3B4-73E6FA31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-82">
            <a:extLst xmlns:a="http://schemas.openxmlformats.org/drawingml/2006/main">
              <a:ext uri="{FF2B5EF4-FFF2-40B4-BE49-F238E27FC236}">
                <a16:creationId xmlns:a16="http://schemas.microsoft.com/office/drawing/2014/main" id="{FE9F859F-B134-4C61-B724-85D81187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0073523adb245c7"/>
              </a:rPr>
              <a:t>C01｜试听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B0008 · MEC_006_S0123</a:t>
            </a:r>
          </a:p>
        </p:txBody>
      </p:sp>
      <p:sp>
        <p:nvSpPr>
          <p:cNvPr id="13" name="text-83">
            <a:extLst xmlns:a="http://schemas.openxmlformats.org/drawingml/2006/main">
              <a:ext uri="{FF2B5EF4-FFF2-40B4-BE49-F238E27FC236}">
                <a16:creationId xmlns:a16="http://schemas.microsoft.com/office/drawing/2014/main" id="{E0C402FC-9F62-4D51-9203-10B322AC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098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OVL 5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REL 5</a:t>
            </a:r>
          </a:p>
        </p:txBody>
      </p:sp>
      <p:sp>
        <p:nvSpPr>
          <p:cNvPr id="14" name="text-84">
            <a:extLst xmlns:a="http://schemas.openxmlformats.org/drawingml/2006/main">
              <a:ext uri="{FF2B5EF4-FFF2-40B4-BE49-F238E27FC236}">
                <a16:creationId xmlns:a16="http://schemas.microsoft.com/office/drawing/2014/main" id="{416CA48B-5D48-41C7-B6FF-80F39C71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09800"/>
            <a:ext cx="217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正向参照</a:t>
            </a:r>
          </a:p>
        </p:txBody>
      </p:sp>
      <p:sp>
        <p:nvSpPr>
          <p:cNvPr id="15" name="text-85">
            <a:extLst xmlns:a="http://schemas.openxmlformats.org/drawingml/2006/main">
              <a:ext uri="{FF2B5EF4-FFF2-40B4-BE49-F238E27FC236}">
                <a16:creationId xmlns:a16="http://schemas.microsoft.com/office/drawing/2014/main" id="{BC4831EC-B909-4450-88F1-7AA7D327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098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完整播放</a:t>
            </a: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00:00–00:10；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评分以完整样本为口径</a:t>
            </a: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6" name="shape-86">
            <a:extLst xmlns:a="http://schemas.openxmlformats.org/drawingml/2006/main">
              <a:ext uri="{FF2B5EF4-FFF2-40B4-BE49-F238E27FC236}">
                <a16:creationId xmlns:a16="http://schemas.microsoft.com/office/drawing/2014/main" id="{398261C8-233D-453C-B63E-6B386BF3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11391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-87">
            <a:extLst xmlns:a="http://schemas.openxmlformats.org/drawingml/2006/main">
              <a:ext uri="{FF2B5EF4-FFF2-40B4-BE49-F238E27FC236}">
                <a16:creationId xmlns:a16="http://schemas.microsoft.com/office/drawing/2014/main" id="{C65AC3F9-DE32-4DE6-9418-86926DFB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aaf0c303b644127"/>
              </a:rPr>
              <a:t>C02｜试听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B0152 · MEC_005_S0456</a:t>
            </a:r>
          </a:p>
        </p:txBody>
      </p:sp>
      <p:sp>
        <p:nvSpPr>
          <p:cNvPr id="18" name="text-88">
            <a:extLst xmlns:a="http://schemas.openxmlformats.org/drawingml/2006/main">
              <a:ext uri="{FF2B5EF4-FFF2-40B4-BE49-F238E27FC236}">
                <a16:creationId xmlns:a16="http://schemas.microsoft.com/office/drawing/2014/main" id="{EE221C26-BA0C-4EFB-B9CC-89788B81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OVL 4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REL 1</a:t>
            </a:r>
          </a:p>
        </p:txBody>
      </p:sp>
      <p:sp>
        <p:nvSpPr>
          <p:cNvPr id="19" name="text-89">
            <a:extLst xmlns:a="http://schemas.openxmlformats.org/drawingml/2006/main">
              <a:ext uri="{FF2B5EF4-FFF2-40B4-BE49-F238E27FC236}">
                <a16:creationId xmlns:a16="http://schemas.microsoft.com/office/drawing/2014/main" id="{762996AC-2899-4253-925B-DDABB949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05150"/>
            <a:ext cx="217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人工试听：Prompt</a:t>
            </a: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要求左→右</a:t>
            </a: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实际听感为右→左</a:t>
            </a: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0" name="text-90">
            <a:extLst xmlns:a="http://schemas.openxmlformats.org/drawingml/2006/main">
              <a:ext uri="{FF2B5EF4-FFF2-40B4-BE49-F238E27FC236}">
                <a16:creationId xmlns:a16="http://schemas.microsoft.com/office/drawing/2014/main" id="{8290F115-8347-4A64-B6E1-E53FF8E0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051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 Prompt </a:t>
            </a: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对照</a:t>
            </a: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B0056 的 OVL 5 / REL 5。</a:t>
            </a:r>
          </a:p>
        </p:txBody>
      </p:sp>
      <p:sp>
        <p:nvSpPr>
          <p:cNvPr id="21" name="shape-91">
            <a:extLst xmlns:a="http://schemas.openxmlformats.org/drawingml/2006/main">
              <a:ext uri="{FF2B5EF4-FFF2-40B4-BE49-F238E27FC236}">
                <a16:creationId xmlns:a16="http://schemas.microsoft.com/office/drawing/2014/main" id="{B7CC72ED-A270-4C38-B7CB-0B2D0691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-92">
            <a:extLst xmlns:a="http://schemas.openxmlformats.org/drawingml/2006/main">
              <a:ext uri="{FF2B5EF4-FFF2-40B4-BE49-F238E27FC236}">
                <a16:creationId xmlns:a16="http://schemas.microsoft.com/office/drawing/2014/main" id="{CEECE532-BAEE-4B57-96B4-DB91A92C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925f02f822d4341"/>
              </a:rPr>
              <a:t>C03｜试听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B0099 · WPN_004_S0042</a:t>
            </a:r>
          </a:p>
        </p:txBody>
      </p:sp>
      <p:sp>
        <p:nvSpPr>
          <p:cNvPr id="23" name="text-93">
            <a:extLst xmlns:a="http://schemas.openxmlformats.org/drawingml/2006/main">
              <a:ext uri="{FF2B5EF4-FFF2-40B4-BE49-F238E27FC236}">
                <a16:creationId xmlns:a16="http://schemas.microsoft.com/office/drawing/2014/main" id="{39DDA6DE-AECF-435C-AFEA-396C45FD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005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OVL 4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REL 3</a:t>
            </a:r>
          </a:p>
        </p:txBody>
      </p:sp>
      <p:sp>
        <p:nvSpPr>
          <p:cNvPr id="24" name="text-94">
            <a:extLst xmlns:a="http://schemas.openxmlformats.org/drawingml/2006/main">
              <a:ext uri="{FF2B5EF4-FFF2-40B4-BE49-F238E27FC236}">
                <a16:creationId xmlns:a16="http://schemas.microsoft.com/office/drawing/2014/main" id="{FB01AE2D-29FF-4906-901B-95B34590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00500"/>
            <a:ext cx="217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wrong_count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Prompt 明确要求两把剑。</a:t>
            </a:r>
          </a:p>
        </p:txBody>
      </p:sp>
      <p:sp>
        <p:nvSpPr>
          <p:cNvPr id="25" name="text-95">
            <a:extLst xmlns:a="http://schemas.openxmlformats.org/drawingml/2006/main">
              <a:ext uri="{FF2B5EF4-FFF2-40B4-BE49-F238E27FC236}">
                <a16:creationId xmlns:a16="http://schemas.microsoft.com/office/drawing/2014/main" id="{2027D2F9-F38A-4D50-BEEC-F0E7E970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005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用于说明次数控制需要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独立于“好听”评估。</a:t>
            </a:r>
          </a:p>
        </p:txBody>
      </p:sp>
      <p:sp>
        <p:nvSpPr>
          <p:cNvPr id="26" name="shape-96">
            <a:extLst xmlns:a="http://schemas.openxmlformats.org/drawingml/2006/main">
              <a:ext uri="{FF2B5EF4-FFF2-40B4-BE49-F238E27FC236}">
                <a16:creationId xmlns:a16="http://schemas.microsoft.com/office/drawing/2014/main" id="{95CE2FDF-7812-4662-BC9E-0879075E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-97">
            <a:extLst xmlns:a="http://schemas.openxmlformats.org/drawingml/2006/main">
              <a:ext uri="{FF2B5EF4-FFF2-40B4-BE49-F238E27FC236}">
                <a16:creationId xmlns:a16="http://schemas.microsoft.com/office/drawing/2014/main" id="{073D53E2-1322-4C71-8AD1-073755C6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037fdcdb20447ae"/>
              </a:rPr>
              <a:t>C04｜试听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B0092 · NAT_006_S0042</a:t>
            </a:r>
          </a:p>
        </p:txBody>
      </p:sp>
      <p:sp>
        <p:nvSpPr>
          <p:cNvPr id="28" name="text-98">
            <a:extLst xmlns:a="http://schemas.openxmlformats.org/drawingml/2006/main">
              <a:ext uri="{FF2B5EF4-FFF2-40B4-BE49-F238E27FC236}">
                <a16:creationId xmlns:a16="http://schemas.microsoft.com/office/drawing/2014/main" id="{143D0CA6-9D57-42CF-B0AD-4EE69D17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958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OVL 1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REL 1</a:t>
            </a:r>
          </a:p>
        </p:txBody>
      </p:sp>
      <p:sp>
        <p:nvSpPr>
          <p:cNvPr id="29" name="text-99">
            <a:extLst xmlns:a="http://schemas.openxmlformats.org/drawingml/2006/main">
              <a:ext uri="{FF2B5EF4-FFF2-40B4-BE49-F238E27FC236}">
                <a16:creationId xmlns:a16="http://schemas.microsoft.com/office/drawing/2014/main" id="{7D5CD263-EADD-4C36-AB15-2DDCCA86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95850"/>
            <a:ext cx="217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技术通过：否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wrong_source</a:t>
            </a:r>
          </a:p>
        </p:txBody>
      </p:sp>
      <p:sp>
        <p:nvSpPr>
          <p:cNvPr id="30" name="text-100">
            <a:extLst xmlns:a="http://schemas.openxmlformats.org/drawingml/2006/main">
              <a:ext uri="{FF2B5EF4-FFF2-40B4-BE49-F238E27FC236}">
                <a16:creationId xmlns:a16="http://schemas.microsoft.com/office/drawing/2014/main" id="{798C7CA6-8496-4ED6-A158-8692C171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958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needs_regeneration；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文件 QC 参与筛查与定位。</a:t>
            </a:r>
          </a:p>
        </p:txBody>
      </p:sp>
      <p:sp>
        <p:nvSpPr>
          <p:cNvPr id="31" name="text-101">
            <a:extLst xmlns:a="http://schemas.openxmlformats.org/drawingml/2006/main">
              <a:ext uri="{FF2B5EF4-FFF2-40B4-BE49-F238E27FC236}">
                <a16:creationId xmlns:a16="http://schemas.microsoft.com/office/drawing/2014/main" id="{D084C6E8-423A-4E29-A75D-306DCB91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注：C02 的方向判断为人工试听观察；所有案例用于展示可复查的评测证据，不用于推断模型内部机制。</a:t>
            </a:r>
          </a:p>
        </p:txBody>
      </p:sp>
    </p:spTree>
    <p:extLst>
      <p:ext uri="{BB962C8B-B14F-4D97-AF65-F5344CB8AC3E}">
        <p14:creationId xmlns:p14="http://schemas.microsoft.com/office/powerpoint/2010/main" val="4673105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9">
            <a:extLst xmlns:a="http://schemas.openxmlformats.org/drawingml/2006/main">
              <a:ext uri="{FF2B5EF4-FFF2-40B4-BE49-F238E27FC236}">
                <a16:creationId xmlns:a16="http://schemas.microsoft.com/office/drawing/2014/main" id="{373D15D7-4BE7-48F1-8B44-5828F950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T2A 音效生成评测 PoC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1661734D-562C-46F4-9153-74422D3B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复测一致性、裁决记录与版本管理</a:t>
            </a:r>
          </a:p>
        </p:txBody>
      </p:sp>
      <p:sp>
        <p:nvSpPr>
          <p:cNvPr id="3" name="rule-102">
            <a:extLst xmlns:a="http://schemas.openxmlformats.org/drawingml/2006/main">
              <a:ext uri="{FF2B5EF4-FFF2-40B4-BE49-F238E27FC236}">
                <a16:creationId xmlns:a16="http://schemas.microsoft.com/office/drawing/2014/main" id="{AA67C785-0C33-4BF3-90BC-027FACEB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ource-9">
            <a:extLst xmlns:a="http://schemas.openxmlformats.org/drawingml/2006/main">
              <a:ext uri="{FF2B5EF4-FFF2-40B4-BE49-F238E27FC236}">
                <a16:creationId xmlns:a16="http://schemas.microsoft.com/office/drawing/2014/main" id="{33D509C2-5747-4A35-B1CC-3A72EFFD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正式统计版本 · n=200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798B4C57-3F1F-4680-B6CE-34EB8472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13 / 14</a:t>
            </a:r>
          </a:p>
        </p:txBody>
      </p:sp>
      <p:sp>
        <p:nvSpPr>
          <p:cNvPr id="6" name="shape-103">
            <a:extLst xmlns:a="http://schemas.openxmlformats.org/drawingml/2006/main">
              <a:ext uri="{FF2B5EF4-FFF2-40B4-BE49-F238E27FC236}">
                <a16:creationId xmlns:a16="http://schemas.microsoft.com/office/drawing/2014/main" id="{07A22D2A-533E-40DC-8C03-A11E535F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619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1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5c80b5a664c95"/>
          <a:stretch xmlns:a="http://schemas.openxmlformats.org/drawingml/2006/main"/>
        </p:blipFill>
        <p:spPr>
          <a:xfrm xmlns:a="http://schemas.openxmlformats.org/drawingml/2006/main">
            <a:off x="542925" y="2395538"/>
            <a:ext cx="5334000" cy="2600325"/>
          </a:xfrm>
          <a:prstGeom xmlns:a="http://schemas.openxmlformats.org/drawingml/2006/main" prst="rect">
            <a:avLst/>
          </a:prstGeom>
        </p:spPr>
      </p:pic>
      <p:sp>
        <p:nvSpPr>
          <p:cNvPr id="8" name="text-105">
            <a:extLst xmlns:a="http://schemas.openxmlformats.org/drawingml/2006/main">
              <a:ext uri="{FF2B5EF4-FFF2-40B4-BE49-F238E27FC236}">
                <a16:creationId xmlns:a16="http://schemas.microsoft.com/office/drawing/2014/main" id="{D86F0A28-BB95-4DED-8376-C496ACC0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15 对</a:t>
            </a:r>
          </a:p>
        </p:txBody>
      </p:sp>
      <p:sp>
        <p:nvSpPr>
          <p:cNvPr id="9" name="text-106">
            <a:extLst xmlns:a="http://schemas.openxmlformats.org/drawingml/2006/main">
              <a:ext uri="{FF2B5EF4-FFF2-40B4-BE49-F238E27FC236}">
                <a16:creationId xmlns:a16="http://schemas.microsoft.com/office/drawing/2014/main" id="{EA902BE7-CB3C-413D-B9AC-DDEB7199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评价顺序间隔 ≥30 的隐藏重复对</a:t>
            </a:r>
          </a:p>
        </p:txBody>
      </p:sp>
      <p:sp>
        <p:nvSpPr>
          <p:cNvPr id="10" name="text-107">
            <a:extLst xmlns:a="http://schemas.openxmlformats.org/drawingml/2006/main">
              <a:ext uri="{FF2B5EF4-FFF2-40B4-BE49-F238E27FC236}">
                <a16:creationId xmlns:a16="http://schemas.microsoft.com/office/drawing/2014/main" id="{DEDC46A7-138C-48E1-88BF-03E70821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533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OVL ±1 分一致     14 / 15  ·  93%</a:t>
            </a:r>
            <a:br/>
            <a:r>
              <a:t>REL ±1 分一致      15 / 15  ·  100%</a:t>
            </a:r>
            <a:br/>
            <a:r>
              <a:t>人工决策一致       12 / 15  ·  80%</a:t>
            </a:r>
          </a:p>
        </p:txBody>
      </p:sp>
      <p:sp>
        <p:nvSpPr>
          <p:cNvPr id="11" name="rule-108">
            <a:extLst xmlns:a="http://schemas.openxmlformats.org/drawingml/2006/main">
              <a:ext uri="{FF2B5EF4-FFF2-40B4-BE49-F238E27FC236}">
                <a16:creationId xmlns:a16="http://schemas.microsoft.com/office/drawing/2014/main" id="{356BE3ED-60F1-4072-AA23-F5B087F0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910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-109">
            <a:extLst xmlns:a="http://schemas.openxmlformats.org/drawingml/2006/main">
              <a:ext uri="{FF2B5EF4-FFF2-40B4-BE49-F238E27FC236}">
                <a16:creationId xmlns:a16="http://schemas.microsoft.com/office/drawing/2014/main" id="{8B3CDF1C-0EFE-4BA3-A0FD-D43B89E7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464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原始 v1.3 保留不动；独立 adjudicated 快照按 blind_id 应用 12 条影响正式统计的裁决。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另 14 条裁决仅影响重测口径；SHA256 manifest 固定输入与输出版本。</a:t>
            </a:r>
          </a:p>
        </p:txBody>
      </p:sp>
    </p:spTree>
    <p:extLst>
      <p:ext uri="{BB962C8B-B14F-4D97-AF65-F5344CB8AC3E}">
        <p14:creationId xmlns:p14="http://schemas.microsoft.com/office/powerpoint/2010/main" val="6278065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10">
            <a:extLst xmlns:a="http://schemas.openxmlformats.org/drawingml/2006/main">
              <a:ext uri="{FF2B5EF4-FFF2-40B4-BE49-F238E27FC236}">
                <a16:creationId xmlns:a16="http://schemas.microsoft.com/office/drawing/2014/main" id="{0C44A99E-8973-4B0A-AB79-44E4B678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T2A 音效生成评测 PoC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810B196-A73D-441B-8EEB-848F76B1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项目产出与方法边界</a:t>
            </a:r>
          </a:p>
        </p:txBody>
      </p:sp>
      <p:sp>
        <p:nvSpPr>
          <p:cNvPr id="3" name="rule-110">
            <a:extLst xmlns:a="http://schemas.openxmlformats.org/drawingml/2006/main">
              <a:ext uri="{FF2B5EF4-FFF2-40B4-BE49-F238E27FC236}">
                <a16:creationId xmlns:a16="http://schemas.microsoft.com/office/drawing/2014/main" id="{AF593DC4-6766-4242-964B-8A076929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ource-10">
            <a:extLst xmlns:a="http://schemas.openxmlformats.org/drawingml/2006/main">
              <a:ext uri="{FF2B5EF4-FFF2-40B4-BE49-F238E27FC236}">
                <a16:creationId xmlns:a16="http://schemas.microsoft.com/office/drawing/2014/main" id="{EB6396F8-52E9-4DAD-B820-9FCF66F6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正式统计版本 · n=200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C73F29EF-ADC0-4AB3-984C-C58AC4DC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14 / 14</a:t>
            </a:r>
          </a:p>
        </p:txBody>
      </p:sp>
      <p:sp>
        <p:nvSpPr>
          <p:cNvPr id="6" name="shape-111">
            <a:extLst xmlns:a="http://schemas.openxmlformats.org/drawingml/2006/main">
              <a:ext uri="{FF2B5EF4-FFF2-40B4-BE49-F238E27FC236}">
                <a16:creationId xmlns:a16="http://schemas.microsoft.com/office/drawing/2014/main" id="{FB556898-3670-41A4-829E-4903DAE8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35623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-112">
            <a:extLst xmlns:a="http://schemas.openxmlformats.org/drawingml/2006/main">
              <a:ext uri="{FF2B5EF4-FFF2-40B4-BE49-F238E27FC236}">
                <a16:creationId xmlns:a16="http://schemas.microsoft.com/office/drawing/2014/main" id="{23E518EB-FC99-4FC1-9818-FFCB5914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测试设计</a:t>
            </a:r>
          </a:p>
        </p:txBody>
      </p:sp>
      <p:sp>
        <p:nvSpPr>
          <p:cNvPr id="8" name="text-113">
            <a:extLst xmlns:a="http://schemas.openxmlformats.org/drawingml/2006/main">
              <a:ext uri="{FF2B5EF4-FFF2-40B4-BE49-F238E27FC236}">
                <a16:creationId xmlns:a16="http://schemas.microsoft.com/office/drawing/2014/main" id="{E274F9B9-F310-4C6E-8DE1-785C8211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293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将生成音效要求转化为原创 Prompt、固定 seed、统一样本规格和明确的正式统计范围。</a:t>
            </a:r>
          </a:p>
        </p:txBody>
      </p:sp>
      <p:sp>
        <p:nvSpPr>
          <p:cNvPr id="9" name="shape-114">
            <a:extLst xmlns:a="http://schemas.openxmlformats.org/drawingml/2006/main">
              <a:ext uri="{FF2B5EF4-FFF2-40B4-BE49-F238E27FC236}">
                <a16:creationId xmlns:a16="http://schemas.microsoft.com/office/drawing/2014/main" id="{0890F86B-B550-4F39-80F5-742EAA5A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62150"/>
            <a:ext cx="35623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A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-115">
            <a:extLst xmlns:a="http://schemas.openxmlformats.org/drawingml/2006/main">
              <a:ext uri="{FF2B5EF4-FFF2-40B4-BE49-F238E27FC236}">
                <a16:creationId xmlns:a16="http://schemas.microsoft.com/office/drawing/2014/main" id="{449F19F9-E226-4274-A67A-6F0F8A67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241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感知裁决</a:t>
            </a:r>
          </a:p>
        </p:txBody>
      </p:sp>
      <p:sp>
        <p:nvSpPr>
          <p:cNvPr id="11" name="text-116">
            <a:extLst xmlns:a="http://schemas.openxmlformats.org/drawingml/2006/main">
              <a:ext uri="{FF2B5EF4-FFF2-40B4-BE49-F238E27FC236}">
                <a16:creationId xmlns:a16="http://schemas.microsoft.com/office/drawing/2014/main" id="{9FA77D27-3C50-4CA0-BE46-08124E2A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09900"/>
            <a:ext cx="293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建立 OVL、REL 与事件级诊断标准，完成正式样本盲评、隐藏重复复测及 Badcase 裁决。</a:t>
            </a:r>
          </a:p>
        </p:txBody>
      </p:sp>
      <p:sp>
        <p:nvSpPr>
          <p:cNvPr id="12" name="shape-117">
            <a:extLst xmlns:a="http://schemas.openxmlformats.org/drawingml/2006/main">
              <a:ext uri="{FF2B5EF4-FFF2-40B4-BE49-F238E27FC236}">
                <a16:creationId xmlns:a16="http://schemas.microsoft.com/office/drawing/2014/main" id="{5DEA058B-2C2A-41E7-A8A3-FD1B6FA2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2150"/>
            <a:ext cx="35623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F2F4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-118">
            <a:extLst xmlns:a="http://schemas.openxmlformats.org/drawingml/2006/main">
              <a:ext uri="{FF2B5EF4-FFF2-40B4-BE49-F238E27FC236}">
                <a16:creationId xmlns:a16="http://schemas.microsoft.com/office/drawing/2014/main" id="{4CF60A67-04DC-415A-A6FD-5B74BC73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数据闭环</a:t>
            </a:r>
          </a:p>
        </p:txBody>
      </p:sp>
      <p:sp>
        <p:nvSpPr>
          <p:cNvPr id="14" name="text-119">
            <a:extLst xmlns:a="http://schemas.openxmlformats.org/drawingml/2006/main">
              <a:ext uri="{FF2B5EF4-FFF2-40B4-BE49-F238E27FC236}">
                <a16:creationId xmlns:a16="http://schemas.microsoft.com/office/drawing/2014/main" id="{8AA08828-47D0-4CA4-A1B6-7120208F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293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结合 L1–L4 客观指标、CLAP 对照、统计分析、裁决记录和版本管理，支持从总体结果回溯至单条样本。</a:t>
            </a:r>
          </a:p>
        </p:txBody>
      </p:sp>
      <p:sp>
        <p:nvSpPr>
          <p:cNvPr id="15" name="shape-120">
            <a:extLst xmlns:a="http://schemas.openxmlformats.org/drawingml/2006/main">
              <a:ext uri="{FF2B5EF4-FFF2-40B4-BE49-F238E27FC236}">
                <a16:creationId xmlns:a16="http://schemas.microsoft.com/office/drawing/2014/main" id="{126B8FA0-9684-4ABA-9E3D-CD184F42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3919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32833"/>
          </a:solidFill>
          <a:ln xmlns:a="http://schemas.openxmlformats.org/drawingml/2006/main" w="9525">
            <a:solidFill>
              <a:srgbClr val="23283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-121">
            <a:extLst xmlns:a="http://schemas.openxmlformats.org/drawingml/2006/main">
              <a:ext uri="{FF2B5EF4-FFF2-40B4-BE49-F238E27FC236}">
                <a16:creationId xmlns:a16="http://schemas.microsoft.com/office/drawing/2014/main" id="{1066E5A5-41D1-40B3-A3CC-CEAC3BA4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67325"/>
            <a:ext cx="1072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下一步：多评测员一致性 + 36 条 stress set 待生成、试听 + FAD / JS 保持 NOT RUN</a:t>
            </a:r>
          </a:p>
        </p:txBody>
      </p:sp>
      <p:sp>
        <p:nvSpPr>
          <p:cNvPr id="17" name="text-122">
            <a:extLst xmlns:a="http://schemas.openxmlformats.org/drawingml/2006/main">
              <a:ext uri="{FF2B5EF4-FFF2-40B4-BE49-F238E27FC236}">
                <a16:creationId xmlns:a16="http://schemas.microsoft.com/office/drawing/2014/main" id="{7E975C90-6D20-4801-9058-46F22701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适用方向：AI 音频评测 · 多模态评测 · 生成音效质量评估</a:t>
            </a:r>
          </a:p>
        </p:txBody>
      </p:sp>
    </p:spTree>
    <p:extLst>
      <p:ext uri="{BB962C8B-B14F-4D97-AF65-F5344CB8AC3E}">
        <p14:creationId xmlns:p14="http://schemas.microsoft.com/office/powerpoint/2010/main" val="565407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2026-07-23T05:38:33.8040000Z</dcterms:created>
  <dcterms:modified xsi:type="dcterms:W3CDTF">2026-07-23T05:38:33.8040000Z</dcterms:modified>
</coreProperties>
</file>